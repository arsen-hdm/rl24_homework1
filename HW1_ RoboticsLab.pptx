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Telegraf Bold" charset="1" panose="00000800000000000000"/>
      <p:regular r:id="rId35"/>
    </p:embeddedFont>
    <p:embeddedFont>
      <p:font typeface="Telegraf" charset="1" panose="000005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jpeg" Type="http://schemas.openxmlformats.org/officeDocument/2006/relationships/image"/><Relationship Id="rId3" Target="../media/VAGeJcDKkdU.mp4" Type="http://schemas.openxmlformats.org/officeDocument/2006/relationships/video"/><Relationship Id="rId4" Target="../media/VAGeJcDKkdU.mp4" Type="http://schemas.microsoft.com/office/2007/relationships/media"/></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TextBox 3" id="3"/>
          <p:cNvSpPr txBox="true"/>
          <p:nvPr/>
        </p:nvSpPr>
        <p:spPr>
          <a:xfrm rot="0">
            <a:off x="1028700" y="2483018"/>
            <a:ext cx="16230600" cy="5905500"/>
          </a:xfrm>
          <a:prstGeom prst="rect">
            <a:avLst/>
          </a:prstGeom>
        </p:spPr>
        <p:txBody>
          <a:bodyPr anchor="t" rtlCol="false" tIns="0" lIns="0" bIns="0" rIns="0">
            <a:spAutoFit/>
          </a:bodyPr>
          <a:lstStyle/>
          <a:p>
            <a:pPr algn="just">
              <a:lnSpc>
                <a:spcPts val="3360"/>
              </a:lnSpc>
            </a:pPr>
            <a:r>
              <a:rPr lang="en-US" sz="2800" b="true">
                <a:solidFill>
                  <a:srgbClr val="66121F"/>
                </a:solidFill>
                <a:latin typeface="Telegraf Bold"/>
                <a:ea typeface="Telegraf Bold"/>
                <a:cs typeface="Telegraf Bold"/>
                <a:sym typeface="Telegraf Bold"/>
              </a:rPr>
              <a:t>The second homework consist in the visualization of a 4 Degrees-of-Freedom (DoF) robot manipulator in the rviz2 simulation environment and also in the gazebo one.</a:t>
            </a:r>
          </a:p>
          <a:p>
            <a:pPr algn="just">
              <a:lnSpc>
                <a:spcPts val="3360"/>
              </a:lnSpc>
            </a:pPr>
            <a:r>
              <a:rPr lang="en-US" sz="2800" b="true">
                <a:solidFill>
                  <a:srgbClr val="66121F"/>
                </a:solidFill>
                <a:latin typeface="Telegraf Bold"/>
                <a:ea typeface="Telegraf Bold"/>
                <a:cs typeface="Telegraf Bold"/>
                <a:sym typeface="Telegraf Bold"/>
              </a:rPr>
              <a:t>Rviz2 is a 3D visualization environment, in which we can visualize first of all the robot itself, obviously, but also we can subscribe to the ros2 topics so we can visualize it informations, such as sensors data, like the images from a camera sensor, or clouds of points generated by the LiDAR sensor. So rviz2 is very useful for debugging for example, because we can visualize most likely in real-time all the informations that we need to understand what’s happening in our scenario.</a:t>
            </a:r>
          </a:p>
          <a:p>
            <a:pPr algn="just">
              <a:lnSpc>
                <a:spcPts val="3360"/>
              </a:lnSpc>
            </a:pPr>
            <a:r>
              <a:rPr lang="en-US" sz="2800" b="true">
                <a:solidFill>
                  <a:srgbClr val="66121F"/>
                </a:solidFill>
                <a:latin typeface="Telegraf Bold"/>
                <a:ea typeface="Telegraf Bold"/>
                <a:cs typeface="Telegraf Bold"/>
                <a:sym typeface="Telegraf Bold"/>
              </a:rPr>
              <a:t>A lack of rviz2 is the fact that the physics isn’t simulated, so in this environment we don’t have factors like the gravity, the friction and so on, like the impacts of the robot with some obstacle and so the consequent reaction inpact ect.</a:t>
            </a:r>
          </a:p>
          <a:p>
            <a:pPr algn="just" marL="0" indent="0" lvl="0">
              <a:lnSpc>
                <a:spcPts val="3360"/>
              </a:lnSpc>
              <a:spcBef>
                <a:spcPct val="0"/>
              </a:spcBef>
            </a:pPr>
            <a:r>
              <a:rPr lang="en-US" b="true" sz="2800">
                <a:solidFill>
                  <a:srgbClr val="66121F"/>
                </a:solidFill>
                <a:latin typeface="Telegraf Bold"/>
                <a:ea typeface="Telegraf Bold"/>
                <a:cs typeface="Telegraf Bold"/>
                <a:sym typeface="Telegraf Bold"/>
              </a:rPr>
              <a:t>We can compensate this lack with the Gazebo simulator, in which we can model also a real world environment to study more realistically how the robot will interact with a real life scenario.</a:t>
            </a:r>
          </a:p>
        </p:txBody>
      </p:sp>
      <p:sp>
        <p:nvSpPr>
          <p:cNvPr name="TextBox 4" id="4"/>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3254543"/>
            <a:ext cx="11237823" cy="4783279"/>
          </a:xfrm>
          <a:custGeom>
            <a:avLst/>
            <a:gdLst/>
            <a:ahLst/>
            <a:cxnLst/>
            <a:rect r="r" b="b" t="t" l="l"/>
            <a:pathLst>
              <a:path h="4783279" w="11237823">
                <a:moveTo>
                  <a:pt x="0" y="0"/>
                </a:moveTo>
                <a:lnTo>
                  <a:pt x="11237823" y="0"/>
                </a:lnTo>
                <a:lnTo>
                  <a:pt x="11237823" y="4783278"/>
                </a:lnTo>
                <a:lnTo>
                  <a:pt x="0" y="4783278"/>
                </a:lnTo>
                <a:lnTo>
                  <a:pt x="0" y="0"/>
                </a:lnTo>
                <a:close/>
              </a:path>
            </a:pathLst>
          </a:custGeom>
          <a:blipFill>
            <a:blip r:embed="rId2"/>
            <a:stretch>
              <a:fillRect l="0" t="0" r="0" b="0"/>
            </a:stretch>
          </a:blipFill>
        </p:spPr>
      </p:sp>
      <p:sp>
        <p:nvSpPr>
          <p:cNvPr name="TextBox 4" id="4"/>
          <p:cNvSpPr txBox="true"/>
          <p:nvPr/>
        </p:nvSpPr>
        <p:spPr>
          <a:xfrm rot="0">
            <a:off x="1028700" y="2483018"/>
            <a:ext cx="16230600" cy="457200"/>
          </a:xfrm>
          <a:prstGeom prst="rect">
            <a:avLst/>
          </a:prstGeom>
        </p:spPr>
        <p:txBody>
          <a:bodyPr anchor="t" rtlCol="false" tIns="0" lIns="0" bIns="0" rIns="0">
            <a:spAutoFit/>
          </a:bodyPr>
          <a:lstStyle/>
          <a:p>
            <a:pPr algn="just" marL="0" indent="0" lvl="0">
              <a:lnSpc>
                <a:spcPts val="3360"/>
              </a:lnSpc>
              <a:spcBef>
                <a:spcPct val="0"/>
              </a:spcBef>
            </a:pPr>
            <a:r>
              <a:rPr lang="en-US" b="true" sz="2800">
                <a:solidFill>
                  <a:srgbClr val="66121F"/>
                </a:solidFill>
                <a:latin typeface="Telegraf Bold"/>
                <a:ea typeface="Telegraf Bold"/>
                <a:cs typeface="Telegraf Bold"/>
                <a:sym typeface="Telegraf Bold"/>
              </a:rPr>
              <a:t>The tasks of the first point of the HM1 are the following:</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TextBox 3" id="3"/>
          <p:cNvSpPr txBox="true"/>
          <p:nvPr/>
        </p:nvSpPr>
        <p:spPr>
          <a:xfrm rot="0">
            <a:off x="1028700" y="2483018"/>
            <a:ext cx="16230600" cy="6457950"/>
          </a:xfrm>
          <a:prstGeom prst="rect">
            <a:avLst/>
          </a:prstGeom>
        </p:spPr>
        <p:txBody>
          <a:bodyPr anchor="t" rtlCol="false" tIns="0" lIns="0" bIns="0" rIns="0">
            <a:spAutoFit/>
          </a:bodyPr>
          <a:lstStyle/>
          <a:p>
            <a:pPr algn="just">
              <a:lnSpc>
                <a:spcPts val="3360"/>
              </a:lnSpc>
            </a:pPr>
            <a:r>
              <a:rPr lang="en-US" sz="2800" b="true">
                <a:solidFill>
                  <a:srgbClr val="66121F"/>
                </a:solidFill>
                <a:latin typeface="Telegraf Bold"/>
                <a:ea typeface="Telegraf Bold"/>
                <a:cs typeface="Telegraf Bold"/>
                <a:sym typeface="Telegraf Bold"/>
              </a:rPr>
              <a:t>Once downloaded the package from github, we can see that it contains 4 files:</a:t>
            </a:r>
          </a:p>
          <a:p>
            <a:pPr algn="just" marL="604523" indent="-302261" lvl="1">
              <a:lnSpc>
                <a:spcPts val="3360"/>
              </a:lnSpc>
              <a:buFont typeface="Arial"/>
              <a:buChar char="•"/>
            </a:pPr>
            <a:r>
              <a:rPr lang="en-US" b="true" sz="2800">
                <a:solidFill>
                  <a:srgbClr val="66121F"/>
                </a:solidFill>
                <a:latin typeface="Telegraf Bold"/>
                <a:ea typeface="Telegraf Bold"/>
                <a:cs typeface="Telegraf Bold"/>
                <a:sym typeface="Telegraf Bold"/>
              </a:rPr>
              <a:t>A CMakeList.txt file, which is used for the managing of the compilation process of a software project, it contains the needed dependencies (also the order of they is important in some cases), the refs to the libraries and so on;</a:t>
            </a:r>
          </a:p>
          <a:p>
            <a:pPr algn="just" marL="604523" indent="-302261" lvl="1">
              <a:lnSpc>
                <a:spcPts val="3360"/>
              </a:lnSpc>
              <a:buFont typeface="Arial"/>
              <a:buChar char="•"/>
            </a:pPr>
            <a:r>
              <a:rPr lang="en-US" b="true" sz="2800">
                <a:solidFill>
                  <a:srgbClr val="66121F"/>
                </a:solidFill>
                <a:latin typeface="Telegraf Bold"/>
                <a:ea typeface="Telegraf Bold"/>
                <a:cs typeface="Telegraf Bold"/>
                <a:sym typeface="Telegraf Bold"/>
              </a:rPr>
              <a:t>A package.xml file which is a tipical file of ros1 and ros2, by which we can specify the dependencies, but differently from a cmakelist file, the informations that it specifies are more for the human than for the machine. For example, we specify some data like the name of the project, the version, the supervisor and so on;</a:t>
            </a:r>
          </a:p>
          <a:p>
            <a:pPr algn="just" marL="604523" indent="-302261" lvl="1">
              <a:lnSpc>
                <a:spcPts val="3360"/>
              </a:lnSpc>
              <a:buFont typeface="Arial"/>
              <a:buChar char="•"/>
            </a:pPr>
            <a:r>
              <a:rPr lang="en-US" b="true" sz="2800">
                <a:solidFill>
                  <a:srgbClr val="66121F"/>
                </a:solidFill>
                <a:latin typeface="Telegraf Bold"/>
                <a:ea typeface="Telegraf Bold"/>
                <a:cs typeface="Telegraf Bold"/>
                <a:sym typeface="Telegraf Bold"/>
              </a:rPr>
              <a:t>A mesh folder which contains all the meshes used for the visualization of our robot. A mesh is a representation of a 3D object, and it’s composed by many polygons, like triangles, connected by dots. It’s also used for the FEM analisys for example;</a:t>
            </a:r>
          </a:p>
          <a:p>
            <a:pPr algn="just" marL="604523" indent="-302261" lvl="1">
              <a:lnSpc>
                <a:spcPts val="3360"/>
              </a:lnSpc>
              <a:buFont typeface="Arial"/>
              <a:buChar char="•"/>
            </a:pPr>
            <a:r>
              <a:rPr lang="en-US" b="true" sz="2800">
                <a:solidFill>
                  <a:srgbClr val="66121F"/>
                </a:solidFill>
                <a:latin typeface="Telegraf Bold"/>
                <a:ea typeface="Telegraf Bold"/>
                <a:cs typeface="Telegraf Bold"/>
                <a:sym typeface="Telegraf Bold"/>
              </a:rPr>
              <a:t>And then there is a urdf folder with the homonymous file. The urdf is a .xml file which is used in ros for the physical description of robots, like the cinematic chain, so the description of links (by the meshes for example), and the joints used. We can also specify the mass of the elements and other things that we will see afterwards.</a:t>
            </a:r>
          </a:p>
        </p:txBody>
      </p:sp>
      <p:sp>
        <p:nvSpPr>
          <p:cNvPr name="TextBox 4" id="4"/>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2989808" y="4689414"/>
            <a:ext cx="4215240" cy="4725303"/>
          </a:xfrm>
          <a:custGeom>
            <a:avLst/>
            <a:gdLst/>
            <a:ahLst/>
            <a:cxnLst/>
            <a:rect r="r" b="b" t="t" l="l"/>
            <a:pathLst>
              <a:path h="4725303" w="4215240">
                <a:moveTo>
                  <a:pt x="0" y="0"/>
                </a:moveTo>
                <a:lnTo>
                  <a:pt x="4215239" y="0"/>
                </a:lnTo>
                <a:lnTo>
                  <a:pt x="4215239" y="4725302"/>
                </a:lnTo>
                <a:lnTo>
                  <a:pt x="0" y="4725302"/>
                </a:lnTo>
                <a:lnTo>
                  <a:pt x="0" y="0"/>
                </a:lnTo>
                <a:close/>
              </a:path>
            </a:pathLst>
          </a:custGeom>
          <a:blipFill>
            <a:blip r:embed="rId2"/>
            <a:stretch>
              <a:fillRect l="0" t="0" r="0" b="0"/>
            </a:stretch>
          </a:blipFill>
        </p:spPr>
      </p:sp>
      <p:sp>
        <p:nvSpPr>
          <p:cNvPr name="Freeform 4" id="4"/>
          <p:cNvSpPr/>
          <p:nvPr/>
        </p:nvSpPr>
        <p:spPr>
          <a:xfrm flipH="false" flipV="false" rot="5400000">
            <a:off x="13538591" y="1022957"/>
            <a:ext cx="3063421" cy="4269492"/>
          </a:xfrm>
          <a:custGeom>
            <a:avLst/>
            <a:gdLst/>
            <a:ahLst/>
            <a:cxnLst/>
            <a:rect r="r" b="b" t="t" l="l"/>
            <a:pathLst>
              <a:path h="4269492" w="3063421">
                <a:moveTo>
                  <a:pt x="0" y="0"/>
                </a:moveTo>
                <a:lnTo>
                  <a:pt x="3063421" y="0"/>
                </a:lnTo>
                <a:lnTo>
                  <a:pt x="3063421" y="4269492"/>
                </a:lnTo>
                <a:lnTo>
                  <a:pt x="0" y="4269492"/>
                </a:lnTo>
                <a:lnTo>
                  <a:pt x="0" y="0"/>
                </a:lnTo>
                <a:close/>
              </a:path>
            </a:pathLst>
          </a:custGeom>
          <a:blipFill>
            <a:blip r:embed="rId3"/>
            <a:stretch>
              <a:fillRect l="0" t="0" r="0" b="0"/>
            </a:stretch>
          </a:blipFill>
        </p:spPr>
      </p:sp>
      <p:sp>
        <p:nvSpPr>
          <p:cNvPr name="Freeform 5" id="5"/>
          <p:cNvSpPr/>
          <p:nvPr/>
        </p:nvSpPr>
        <p:spPr>
          <a:xfrm flipH="false" flipV="false" rot="0">
            <a:off x="1159299" y="3451272"/>
            <a:ext cx="11830509" cy="5963444"/>
          </a:xfrm>
          <a:custGeom>
            <a:avLst/>
            <a:gdLst/>
            <a:ahLst/>
            <a:cxnLst/>
            <a:rect r="r" b="b" t="t" l="l"/>
            <a:pathLst>
              <a:path h="5963444" w="11830509">
                <a:moveTo>
                  <a:pt x="0" y="0"/>
                </a:moveTo>
                <a:lnTo>
                  <a:pt x="11830509" y="0"/>
                </a:lnTo>
                <a:lnTo>
                  <a:pt x="11830509" y="5963444"/>
                </a:lnTo>
                <a:lnTo>
                  <a:pt x="0" y="5963444"/>
                </a:lnTo>
                <a:lnTo>
                  <a:pt x="0" y="0"/>
                </a:lnTo>
                <a:close/>
              </a:path>
            </a:pathLst>
          </a:custGeom>
          <a:blipFill>
            <a:blip r:embed="rId4"/>
            <a:stretch>
              <a:fillRect l="0" t="0" r="0" b="0"/>
            </a:stretch>
          </a:blipFill>
        </p:spPr>
      </p:sp>
      <p:sp>
        <p:nvSpPr>
          <p:cNvPr name="TextBox 6" id="6"/>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5591101" y="5490586"/>
            <a:ext cx="7105798" cy="4796414"/>
          </a:xfrm>
          <a:custGeom>
            <a:avLst/>
            <a:gdLst/>
            <a:ahLst/>
            <a:cxnLst/>
            <a:rect r="r" b="b" t="t" l="l"/>
            <a:pathLst>
              <a:path h="4796414" w="7105798">
                <a:moveTo>
                  <a:pt x="0" y="0"/>
                </a:moveTo>
                <a:lnTo>
                  <a:pt x="7105798" y="0"/>
                </a:lnTo>
                <a:lnTo>
                  <a:pt x="7105798" y="4796414"/>
                </a:lnTo>
                <a:lnTo>
                  <a:pt x="0" y="4796414"/>
                </a:lnTo>
                <a:lnTo>
                  <a:pt x="0" y="0"/>
                </a:lnTo>
                <a:close/>
              </a:path>
            </a:pathLst>
          </a:custGeom>
          <a:blipFill>
            <a:blip r:embed="rId2"/>
            <a:stretch>
              <a:fillRect l="0" t="0" r="0" b="0"/>
            </a:stretch>
          </a:blipFill>
        </p:spPr>
      </p:sp>
      <p:sp>
        <p:nvSpPr>
          <p:cNvPr name="TextBox 4" id="4"/>
          <p:cNvSpPr txBox="true"/>
          <p:nvPr/>
        </p:nvSpPr>
        <p:spPr>
          <a:xfrm rot="0">
            <a:off x="1028700" y="2483018"/>
            <a:ext cx="16230600" cy="33909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The second task of the first point asks to write a launch file, with which we have to retrieve the robot description via the urdf file, then we use this information to send Transormation Frames (TF’s), via the robot state publisher topic, so that we can visualize the robot configuration, in this case in rviz2. Apart the robot state publisher, we have to start the joint state publisher, which is used for the hononymous task. The two publishers are different, because one sends data about the TF and the other sends the joint states, so for example an angle for the rotational joint or a displacement for a prismatic joint. All of this things are done here:</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5591101" y="5490586"/>
            <a:ext cx="7105798" cy="4796414"/>
          </a:xfrm>
          <a:custGeom>
            <a:avLst/>
            <a:gdLst/>
            <a:ahLst/>
            <a:cxnLst/>
            <a:rect r="r" b="b" t="t" l="l"/>
            <a:pathLst>
              <a:path h="4796414" w="7105798">
                <a:moveTo>
                  <a:pt x="0" y="0"/>
                </a:moveTo>
                <a:lnTo>
                  <a:pt x="7105798" y="0"/>
                </a:lnTo>
                <a:lnTo>
                  <a:pt x="7105798" y="4796414"/>
                </a:lnTo>
                <a:lnTo>
                  <a:pt x="0" y="4796414"/>
                </a:lnTo>
                <a:lnTo>
                  <a:pt x="0" y="0"/>
                </a:lnTo>
                <a:close/>
              </a:path>
            </a:pathLst>
          </a:custGeom>
          <a:blipFill>
            <a:blip r:embed="rId2"/>
            <a:stretch>
              <a:fillRect l="0" t="0" r="0" b="0"/>
            </a:stretch>
          </a:blipFill>
        </p:spPr>
      </p:sp>
      <p:sp>
        <p:nvSpPr>
          <p:cNvPr name="TextBox 4" id="4"/>
          <p:cNvSpPr txBox="true"/>
          <p:nvPr/>
        </p:nvSpPr>
        <p:spPr>
          <a:xfrm rot="0">
            <a:off x="1028700" y="2483018"/>
            <a:ext cx="16230600" cy="21336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We can also notice that one of the parameters in the creation of the robot state publisher, is the “use_sim_time”, and it’s set to true. That means that we’re refering to the simulation time and not the real one. This is useful because every component of our project will be syncronised to one time reference, and not the real one, because in that case we could have some delays for example.</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3805169" y="3673643"/>
            <a:ext cx="10677662" cy="4170691"/>
          </a:xfrm>
          <a:custGeom>
            <a:avLst/>
            <a:gdLst/>
            <a:ahLst/>
            <a:cxnLst/>
            <a:rect r="r" b="b" t="t" l="l"/>
            <a:pathLst>
              <a:path h="4170691" w="10677662">
                <a:moveTo>
                  <a:pt x="0" y="0"/>
                </a:moveTo>
                <a:lnTo>
                  <a:pt x="10677662" y="0"/>
                </a:lnTo>
                <a:lnTo>
                  <a:pt x="10677662" y="4170691"/>
                </a:lnTo>
                <a:lnTo>
                  <a:pt x="0" y="4170691"/>
                </a:lnTo>
                <a:lnTo>
                  <a:pt x="0" y="0"/>
                </a:lnTo>
                <a:close/>
              </a:path>
            </a:pathLst>
          </a:custGeom>
          <a:blipFill>
            <a:blip r:embed="rId2"/>
            <a:stretch>
              <a:fillRect l="0" t="0" r="0" b="0"/>
            </a:stretch>
          </a:blipFill>
        </p:spPr>
      </p:sp>
      <p:sp>
        <p:nvSpPr>
          <p:cNvPr name="TextBox 4" id="4"/>
          <p:cNvSpPr txBox="true"/>
          <p:nvPr/>
        </p:nvSpPr>
        <p:spPr>
          <a:xfrm rot="0">
            <a:off x="1028700" y="2483018"/>
            <a:ext cx="16230600" cy="8763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But we also need to start the rviz2 simulation environment, so that we can retrive all the data that we are going to send on the topics and visualize it. Here it is shown how i did that:</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
        <p:nvSpPr>
          <p:cNvPr name="TextBox 6" id="6"/>
          <p:cNvSpPr txBox="true"/>
          <p:nvPr/>
        </p:nvSpPr>
        <p:spPr>
          <a:xfrm rot="0">
            <a:off x="1028700" y="8120559"/>
            <a:ext cx="16230600" cy="17145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We can also notice that we’re using come rviz_config_file, it’s about the optional task specified in the b) point. In pratically the config file is used to set what are the topics that we want to listen, so that at the start of the simulation we can immediately visualize what we want, without the need to specify it everytime.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3546001" y="3588906"/>
            <a:ext cx="11195997" cy="3109188"/>
          </a:xfrm>
          <a:custGeom>
            <a:avLst/>
            <a:gdLst/>
            <a:ahLst/>
            <a:cxnLst/>
            <a:rect r="r" b="b" t="t" l="l"/>
            <a:pathLst>
              <a:path h="3109188" w="11195997">
                <a:moveTo>
                  <a:pt x="0" y="0"/>
                </a:moveTo>
                <a:lnTo>
                  <a:pt x="11195998" y="0"/>
                </a:lnTo>
                <a:lnTo>
                  <a:pt x="11195998" y="3109188"/>
                </a:lnTo>
                <a:lnTo>
                  <a:pt x="0" y="3109188"/>
                </a:lnTo>
                <a:lnTo>
                  <a:pt x="0" y="0"/>
                </a:lnTo>
                <a:close/>
              </a:path>
            </a:pathLst>
          </a:custGeom>
          <a:blipFill>
            <a:blip r:embed="rId2"/>
            <a:stretch>
              <a:fillRect l="0" t="0" r="0" b="0"/>
            </a:stretch>
          </a:blipFill>
        </p:spPr>
      </p:sp>
      <p:sp>
        <p:nvSpPr>
          <p:cNvPr name="TextBox 4" id="4"/>
          <p:cNvSpPr txBox="true"/>
          <p:nvPr/>
        </p:nvSpPr>
        <p:spPr>
          <a:xfrm rot="0">
            <a:off x="1028700" y="2483018"/>
            <a:ext cx="16230600" cy="4572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Here we specify where to find and take the rviz config file:</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2964745"/>
            <a:ext cx="10793987" cy="2178755"/>
          </a:xfrm>
          <a:custGeom>
            <a:avLst/>
            <a:gdLst/>
            <a:ahLst/>
            <a:cxnLst/>
            <a:rect r="r" b="b" t="t" l="l"/>
            <a:pathLst>
              <a:path h="2178755" w="10793987">
                <a:moveTo>
                  <a:pt x="0" y="0"/>
                </a:moveTo>
                <a:lnTo>
                  <a:pt x="10793987" y="0"/>
                </a:lnTo>
                <a:lnTo>
                  <a:pt x="10793987" y="2178755"/>
                </a:lnTo>
                <a:lnTo>
                  <a:pt x="0" y="2178755"/>
                </a:lnTo>
                <a:lnTo>
                  <a:pt x="0" y="0"/>
                </a:lnTo>
                <a:close/>
              </a:path>
            </a:pathLst>
          </a:custGeom>
          <a:blipFill>
            <a:blip r:embed="rId2"/>
            <a:stretch>
              <a:fillRect l="0" t="0" r="0" b="0"/>
            </a:stretch>
          </a:blipFill>
        </p:spPr>
      </p:sp>
      <p:sp>
        <p:nvSpPr>
          <p:cNvPr name="Freeform 4" id="4"/>
          <p:cNvSpPr/>
          <p:nvPr/>
        </p:nvSpPr>
        <p:spPr>
          <a:xfrm flipH="false" flipV="false" rot="0">
            <a:off x="1028700" y="5118973"/>
            <a:ext cx="13765829" cy="5168027"/>
          </a:xfrm>
          <a:custGeom>
            <a:avLst/>
            <a:gdLst/>
            <a:ahLst/>
            <a:cxnLst/>
            <a:rect r="r" b="b" t="t" l="l"/>
            <a:pathLst>
              <a:path h="5168027" w="13765829">
                <a:moveTo>
                  <a:pt x="0" y="0"/>
                </a:moveTo>
                <a:lnTo>
                  <a:pt x="13765829" y="0"/>
                </a:lnTo>
                <a:lnTo>
                  <a:pt x="13765829" y="5168027"/>
                </a:lnTo>
                <a:lnTo>
                  <a:pt x="0" y="5168027"/>
                </a:lnTo>
                <a:lnTo>
                  <a:pt x="0" y="0"/>
                </a:lnTo>
                <a:close/>
              </a:path>
            </a:pathLst>
          </a:custGeom>
          <a:blipFill>
            <a:blip r:embed="rId3"/>
            <a:stretch>
              <a:fillRect l="0" t="0" r="0" b="0"/>
            </a:stretch>
          </a:blipFill>
        </p:spPr>
      </p:sp>
      <p:sp>
        <p:nvSpPr>
          <p:cNvPr name="TextBox 5" id="5"/>
          <p:cNvSpPr txBox="true"/>
          <p:nvPr/>
        </p:nvSpPr>
        <p:spPr>
          <a:xfrm rot="0">
            <a:off x="1028700" y="2483018"/>
            <a:ext cx="16230600" cy="4572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Here it’s shown the building of the package and the launch of our simulation:</a:t>
            </a:r>
          </a:p>
        </p:txBody>
      </p:sp>
      <p:sp>
        <p:nvSpPr>
          <p:cNvPr name="TextBox 6" id="6"/>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4197518"/>
            <a:ext cx="10569681" cy="5824833"/>
          </a:xfrm>
          <a:custGeom>
            <a:avLst/>
            <a:gdLst/>
            <a:ahLst/>
            <a:cxnLst/>
            <a:rect r="r" b="b" t="t" l="l"/>
            <a:pathLst>
              <a:path h="5824833" w="10569681">
                <a:moveTo>
                  <a:pt x="0" y="0"/>
                </a:moveTo>
                <a:lnTo>
                  <a:pt x="10569681" y="0"/>
                </a:lnTo>
                <a:lnTo>
                  <a:pt x="10569681" y="5824832"/>
                </a:lnTo>
                <a:lnTo>
                  <a:pt x="0" y="5824832"/>
                </a:lnTo>
                <a:lnTo>
                  <a:pt x="0" y="0"/>
                </a:lnTo>
                <a:close/>
              </a:path>
            </a:pathLst>
          </a:custGeom>
          <a:blipFill>
            <a:blip r:embed="rId2"/>
            <a:stretch>
              <a:fillRect l="0" t="0" r="0" b="0"/>
            </a:stretch>
          </a:blipFill>
        </p:spPr>
      </p:sp>
      <p:sp>
        <p:nvSpPr>
          <p:cNvPr name="Freeform 4" id="4"/>
          <p:cNvSpPr/>
          <p:nvPr/>
        </p:nvSpPr>
        <p:spPr>
          <a:xfrm flipH="false" flipV="false" rot="0">
            <a:off x="11796405" y="4382185"/>
            <a:ext cx="6187996" cy="5640166"/>
          </a:xfrm>
          <a:custGeom>
            <a:avLst/>
            <a:gdLst/>
            <a:ahLst/>
            <a:cxnLst/>
            <a:rect r="r" b="b" t="t" l="l"/>
            <a:pathLst>
              <a:path h="5640166" w="6187996">
                <a:moveTo>
                  <a:pt x="0" y="0"/>
                </a:moveTo>
                <a:lnTo>
                  <a:pt x="6187996" y="0"/>
                </a:lnTo>
                <a:lnTo>
                  <a:pt x="6187996" y="5640165"/>
                </a:lnTo>
                <a:lnTo>
                  <a:pt x="0" y="5640165"/>
                </a:lnTo>
                <a:lnTo>
                  <a:pt x="0" y="0"/>
                </a:lnTo>
                <a:close/>
              </a:path>
            </a:pathLst>
          </a:custGeom>
          <a:blipFill>
            <a:blip r:embed="rId3"/>
            <a:stretch>
              <a:fillRect l="0" t="0" r="0" b="0"/>
            </a:stretch>
          </a:blipFill>
        </p:spPr>
      </p:sp>
      <p:sp>
        <p:nvSpPr>
          <p:cNvPr name="TextBox 5" id="5"/>
          <p:cNvSpPr txBox="true"/>
          <p:nvPr/>
        </p:nvSpPr>
        <p:spPr>
          <a:xfrm rot="0">
            <a:off x="1028700" y="2483018"/>
            <a:ext cx="16230600" cy="17145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And here we can see the robot spawned in the rviz2 environmet, also with the possibility to change the joints state via the interface, we can notice that the robot doesn’t fall, it should have to because there isn’t a control system, even just for the gravity compensation, but in rviz2 the gravity isn’t simulated.</a:t>
            </a:r>
          </a:p>
        </p:txBody>
      </p:sp>
      <p:sp>
        <p:nvSpPr>
          <p:cNvPr name="TextBox 6" id="6"/>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4092743"/>
            <a:ext cx="11616817" cy="3825206"/>
          </a:xfrm>
          <a:custGeom>
            <a:avLst/>
            <a:gdLst/>
            <a:ahLst/>
            <a:cxnLst/>
            <a:rect r="r" b="b" t="t" l="l"/>
            <a:pathLst>
              <a:path h="3825206" w="11616817">
                <a:moveTo>
                  <a:pt x="0" y="0"/>
                </a:moveTo>
                <a:lnTo>
                  <a:pt x="11616817" y="0"/>
                </a:lnTo>
                <a:lnTo>
                  <a:pt x="11616817" y="3825206"/>
                </a:lnTo>
                <a:lnTo>
                  <a:pt x="0" y="3825206"/>
                </a:lnTo>
                <a:lnTo>
                  <a:pt x="0" y="0"/>
                </a:lnTo>
                <a:close/>
              </a:path>
            </a:pathLst>
          </a:custGeom>
          <a:blipFill>
            <a:blip r:embed="rId2"/>
            <a:stretch>
              <a:fillRect l="0" t="0" r="0" b="0"/>
            </a:stretch>
          </a:blipFill>
        </p:spPr>
      </p:sp>
      <p:sp>
        <p:nvSpPr>
          <p:cNvPr name="TextBox 4" id="4"/>
          <p:cNvSpPr txBox="true"/>
          <p:nvPr/>
        </p:nvSpPr>
        <p:spPr>
          <a:xfrm rot="0">
            <a:off x="1028700" y="2483018"/>
            <a:ext cx="16230600" cy="12954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The last task for the first point consist in substituting the collision meshes with primitive shapes, so that the calculation of an eventual contact of the robot with the environment is simpler than consider the real form via meshes:</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
        <p:nvSpPr>
          <p:cNvPr name="TextBox 6" id="6"/>
          <p:cNvSpPr txBox="true"/>
          <p:nvPr/>
        </p:nvSpPr>
        <p:spPr>
          <a:xfrm rot="0">
            <a:off x="1028700" y="8194174"/>
            <a:ext cx="16230600" cy="8763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Here it’s shown that for the visualization we still use meshes, but for the collision we use box shapes.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3683168"/>
            <a:ext cx="11027285" cy="5821667"/>
          </a:xfrm>
          <a:custGeom>
            <a:avLst/>
            <a:gdLst/>
            <a:ahLst/>
            <a:cxnLst/>
            <a:rect r="r" b="b" t="t" l="l"/>
            <a:pathLst>
              <a:path h="5821667" w="11027285">
                <a:moveTo>
                  <a:pt x="0" y="0"/>
                </a:moveTo>
                <a:lnTo>
                  <a:pt x="11027285" y="0"/>
                </a:lnTo>
                <a:lnTo>
                  <a:pt x="11027285" y="5821667"/>
                </a:lnTo>
                <a:lnTo>
                  <a:pt x="0" y="5821667"/>
                </a:lnTo>
                <a:lnTo>
                  <a:pt x="0" y="0"/>
                </a:lnTo>
                <a:close/>
              </a:path>
            </a:pathLst>
          </a:custGeom>
          <a:blipFill>
            <a:blip r:embed="rId2"/>
            <a:stretch>
              <a:fillRect l="0" t="0" r="0" b="0"/>
            </a:stretch>
          </a:blipFill>
        </p:spPr>
      </p:sp>
      <p:sp>
        <p:nvSpPr>
          <p:cNvPr name="Freeform 4" id="4"/>
          <p:cNvSpPr/>
          <p:nvPr/>
        </p:nvSpPr>
        <p:spPr>
          <a:xfrm flipH="false" flipV="false" rot="0">
            <a:off x="12055985" y="3683168"/>
            <a:ext cx="6232015" cy="5252139"/>
          </a:xfrm>
          <a:custGeom>
            <a:avLst/>
            <a:gdLst/>
            <a:ahLst/>
            <a:cxnLst/>
            <a:rect r="r" b="b" t="t" l="l"/>
            <a:pathLst>
              <a:path h="5252139" w="6232015">
                <a:moveTo>
                  <a:pt x="0" y="0"/>
                </a:moveTo>
                <a:lnTo>
                  <a:pt x="6232015" y="0"/>
                </a:lnTo>
                <a:lnTo>
                  <a:pt x="6232015" y="5252138"/>
                </a:lnTo>
                <a:lnTo>
                  <a:pt x="0" y="5252138"/>
                </a:lnTo>
                <a:lnTo>
                  <a:pt x="0" y="0"/>
                </a:lnTo>
                <a:close/>
              </a:path>
            </a:pathLst>
          </a:custGeom>
          <a:blipFill>
            <a:blip r:embed="rId3"/>
            <a:stretch>
              <a:fillRect l="0" t="0" r="0" b="0"/>
            </a:stretch>
          </a:blipFill>
        </p:spPr>
      </p:sp>
      <p:sp>
        <p:nvSpPr>
          <p:cNvPr name="TextBox 5" id="5"/>
          <p:cNvSpPr txBox="true"/>
          <p:nvPr/>
        </p:nvSpPr>
        <p:spPr>
          <a:xfrm rot="0">
            <a:off x="1028700" y="2483018"/>
            <a:ext cx="16230600" cy="8763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And here is the results of the collision shapes modelling, we can see that the collision shapes move correctly in function of the robot’s configuration:</a:t>
            </a:r>
          </a:p>
        </p:txBody>
      </p:sp>
      <p:sp>
        <p:nvSpPr>
          <p:cNvPr name="TextBox 6" id="6"/>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3254543"/>
            <a:ext cx="11244217" cy="2976410"/>
          </a:xfrm>
          <a:custGeom>
            <a:avLst/>
            <a:gdLst/>
            <a:ahLst/>
            <a:cxnLst/>
            <a:rect r="r" b="b" t="t" l="l"/>
            <a:pathLst>
              <a:path h="2976410" w="11244217">
                <a:moveTo>
                  <a:pt x="0" y="0"/>
                </a:moveTo>
                <a:lnTo>
                  <a:pt x="11244217" y="0"/>
                </a:lnTo>
                <a:lnTo>
                  <a:pt x="11244217" y="2976410"/>
                </a:lnTo>
                <a:lnTo>
                  <a:pt x="0" y="2976410"/>
                </a:lnTo>
                <a:lnTo>
                  <a:pt x="0" y="0"/>
                </a:lnTo>
                <a:close/>
              </a:path>
            </a:pathLst>
          </a:custGeom>
          <a:blipFill>
            <a:blip r:embed="rId2"/>
            <a:stretch>
              <a:fillRect l="0" t="0" r="0" b="0"/>
            </a:stretch>
          </a:blipFill>
        </p:spPr>
      </p:sp>
      <p:sp>
        <p:nvSpPr>
          <p:cNvPr name="TextBox 4" id="4"/>
          <p:cNvSpPr txBox="true"/>
          <p:nvPr/>
        </p:nvSpPr>
        <p:spPr>
          <a:xfrm rot="0">
            <a:off x="1028700" y="2483018"/>
            <a:ext cx="16230600" cy="4572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The second point of the HW1 starts with these tasks:</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
        <p:nvSpPr>
          <p:cNvPr name="TextBox 6" id="6"/>
          <p:cNvSpPr txBox="true"/>
          <p:nvPr/>
        </p:nvSpPr>
        <p:spPr>
          <a:xfrm rot="0">
            <a:off x="1028700" y="6507178"/>
            <a:ext cx="16230600" cy="17145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So practically we have to start the simulation in gazebo and visualize the robot in this other environment. The result of those operations will be, obviously the robot spawning in the environment, but it will fall down because at this point we haven’t implemented the controllers yet (but the gravity in this case is present as well).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3224976" y="3673643"/>
            <a:ext cx="11838047" cy="6613357"/>
          </a:xfrm>
          <a:custGeom>
            <a:avLst/>
            <a:gdLst/>
            <a:ahLst/>
            <a:cxnLst/>
            <a:rect r="r" b="b" t="t" l="l"/>
            <a:pathLst>
              <a:path h="6613357" w="11838047">
                <a:moveTo>
                  <a:pt x="0" y="0"/>
                </a:moveTo>
                <a:lnTo>
                  <a:pt x="11838048" y="0"/>
                </a:lnTo>
                <a:lnTo>
                  <a:pt x="11838048" y="6613357"/>
                </a:lnTo>
                <a:lnTo>
                  <a:pt x="0" y="6613357"/>
                </a:lnTo>
                <a:lnTo>
                  <a:pt x="0" y="0"/>
                </a:lnTo>
                <a:close/>
              </a:path>
            </a:pathLst>
          </a:custGeom>
          <a:blipFill>
            <a:blip r:embed="rId2"/>
            <a:stretch>
              <a:fillRect l="0" t="0" r="0" b="0"/>
            </a:stretch>
          </a:blipFill>
        </p:spPr>
      </p:sp>
      <p:sp>
        <p:nvSpPr>
          <p:cNvPr name="TextBox 4" id="4"/>
          <p:cNvSpPr txBox="true"/>
          <p:nvPr/>
        </p:nvSpPr>
        <p:spPr>
          <a:xfrm rot="0">
            <a:off x="1028700" y="2483018"/>
            <a:ext cx="16230600" cy="8763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The commands that we have to use to spawn the robot in gazebo are these (let’s notice that the robot will spawn in an empty world in this case):</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3254543"/>
            <a:ext cx="11189520" cy="4080884"/>
          </a:xfrm>
          <a:custGeom>
            <a:avLst/>
            <a:gdLst/>
            <a:ahLst/>
            <a:cxnLst/>
            <a:rect r="r" b="b" t="t" l="l"/>
            <a:pathLst>
              <a:path h="4080884" w="11189520">
                <a:moveTo>
                  <a:pt x="0" y="0"/>
                </a:moveTo>
                <a:lnTo>
                  <a:pt x="11189520" y="0"/>
                </a:lnTo>
                <a:lnTo>
                  <a:pt x="11189520" y="4080884"/>
                </a:lnTo>
                <a:lnTo>
                  <a:pt x="0" y="4080884"/>
                </a:lnTo>
                <a:lnTo>
                  <a:pt x="0" y="0"/>
                </a:lnTo>
                <a:close/>
              </a:path>
            </a:pathLst>
          </a:custGeom>
          <a:blipFill>
            <a:blip r:embed="rId2"/>
            <a:stretch>
              <a:fillRect l="0" t="0" r="0" b="0"/>
            </a:stretch>
          </a:blipFill>
        </p:spPr>
      </p:sp>
      <p:sp>
        <p:nvSpPr>
          <p:cNvPr name="TextBox 4" id="4"/>
          <p:cNvSpPr txBox="true"/>
          <p:nvPr/>
        </p:nvSpPr>
        <p:spPr>
          <a:xfrm rot="0">
            <a:off x="1028700" y="2483018"/>
            <a:ext cx="16230600" cy="4572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Now, the other points of this part of the HM1 are:</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
        <p:nvSpPr>
          <p:cNvPr name="TextBox 6" id="6"/>
          <p:cNvSpPr txBox="true"/>
          <p:nvPr/>
        </p:nvSpPr>
        <p:spPr>
          <a:xfrm rot="0">
            <a:off x="1028700" y="7611652"/>
            <a:ext cx="16230600" cy="21336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So, we have to add the hardware interfaces for every joint, and we use a xacro macro function to do it quickly, so it will iterate automatically for every joint. Firstly we have to specify that the command interface (like the actuated one) is the position, then we could use the state interface, even for velocity or efforts, to simply retrieve this tipe of data for every joints.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3254543"/>
            <a:ext cx="8229600" cy="710562"/>
          </a:xfrm>
          <a:custGeom>
            <a:avLst/>
            <a:gdLst/>
            <a:ahLst/>
            <a:cxnLst/>
            <a:rect r="r" b="b" t="t" l="l"/>
            <a:pathLst>
              <a:path h="710562" w="8229600">
                <a:moveTo>
                  <a:pt x="0" y="0"/>
                </a:moveTo>
                <a:lnTo>
                  <a:pt x="8229600" y="0"/>
                </a:lnTo>
                <a:lnTo>
                  <a:pt x="8229600" y="710562"/>
                </a:lnTo>
                <a:lnTo>
                  <a:pt x="0" y="710562"/>
                </a:lnTo>
                <a:lnTo>
                  <a:pt x="0" y="0"/>
                </a:lnTo>
                <a:close/>
              </a:path>
            </a:pathLst>
          </a:custGeom>
          <a:blipFill>
            <a:blip r:embed="rId2"/>
            <a:stretch>
              <a:fillRect l="0" t="0" r="0" b="0"/>
            </a:stretch>
          </a:blipFill>
        </p:spPr>
      </p:sp>
      <p:sp>
        <p:nvSpPr>
          <p:cNvPr name="Freeform 4" id="4"/>
          <p:cNvSpPr/>
          <p:nvPr/>
        </p:nvSpPr>
        <p:spPr>
          <a:xfrm flipH="false" flipV="false" rot="0">
            <a:off x="1028700" y="4181261"/>
            <a:ext cx="8229600" cy="2213264"/>
          </a:xfrm>
          <a:custGeom>
            <a:avLst/>
            <a:gdLst/>
            <a:ahLst/>
            <a:cxnLst/>
            <a:rect r="r" b="b" t="t" l="l"/>
            <a:pathLst>
              <a:path h="2213264" w="8229600">
                <a:moveTo>
                  <a:pt x="0" y="0"/>
                </a:moveTo>
                <a:lnTo>
                  <a:pt x="8229600" y="0"/>
                </a:lnTo>
                <a:lnTo>
                  <a:pt x="8229600" y="2213264"/>
                </a:lnTo>
                <a:lnTo>
                  <a:pt x="0" y="2213264"/>
                </a:lnTo>
                <a:lnTo>
                  <a:pt x="0" y="0"/>
                </a:lnTo>
                <a:close/>
              </a:path>
            </a:pathLst>
          </a:custGeom>
          <a:blipFill>
            <a:blip r:embed="rId3"/>
            <a:stretch>
              <a:fillRect l="0" t="0" r="0" b="0"/>
            </a:stretch>
          </a:blipFill>
        </p:spPr>
      </p:sp>
      <p:sp>
        <p:nvSpPr>
          <p:cNvPr name="Freeform 5" id="5"/>
          <p:cNvSpPr/>
          <p:nvPr/>
        </p:nvSpPr>
        <p:spPr>
          <a:xfrm flipH="false" flipV="false" rot="0">
            <a:off x="1028700" y="6610681"/>
            <a:ext cx="8229600" cy="3543143"/>
          </a:xfrm>
          <a:custGeom>
            <a:avLst/>
            <a:gdLst/>
            <a:ahLst/>
            <a:cxnLst/>
            <a:rect r="r" b="b" t="t" l="l"/>
            <a:pathLst>
              <a:path h="3543143" w="8229600">
                <a:moveTo>
                  <a:pt x="0" y="0"/>
                </a:moveTo>
                <a:lnTo>
                  <a:pt x="8229600" y="0"/>
                </a:lnTo>
                <a:lnTo>
                  <a:pt x="8229600" y="3543143"/>
                </a:lnTo>
                <a:lnTo>
                  <a:pt x="0" y="3543143"/>
                </a:lnTo>
                <a:lnTo>
                  <a:pt x="0" y="0"/>
                </a:lnTo>
                <a:close/>
              </a:path>
            </a:pathLst>
          </a:custGeom>
          <a:blipFill>
            <a:blip r:embed="rId4"/>
            <a:stretch>
              <a:fillRect l="0" t="0" r="0" b="0"/>
            </a:stretch>
          </a:blipFill>
        </p:spPr>
      </p:sp>
      <p:sp>
        <p:nvSpPr>
          <p:cNvPr name="Freeform 6" id="6"/>
          <p:cNvSpPr/>
          <p:nvPr/>
        </p:nvSpPr>
        <p:spPr>
          <a:xfrm flipH="false" flipV="false" rot="0">
            <a:off x="9481606" y="5890666"/>
            <a:ext cx="8001000" cy="2685118"/>
          </a:xfrm>
          <a:custGeom>
            <a:avLst/>
            <a:gdLst/>
            <a:ahLst/>
            <a:cxnLst/>
            <a:rect r="r" b="b" t="t" l="l"/>
            <a:pathLst>
              <a:path h="2685118" w="8001000">
                <a:moveTo>
                  <a:pt x="0" y="0"/>
                </a:moveTo>
                <a:lnTo>
                  <a:pt x="8001000" y="0"/>
                </a:lnTo>
                <a:lnTo>
                  <a:pt x="8001000" y="2685118"/>
                </a:lnTo>
                <a:lnTo>
                  <a:pt x="0" y="2685118"/>
                </a:lnTo>
                <a:lnTo>
                  <a:pt x="0" y="0"/>
                </a:lnTo>
                <a:close/>
              </a:path>
            </a:pathLst>
          </a:custGeom>
          <a:blipFill>
            <a:blip r:embed="rId5"/>
            <a:stretch>
              <a:fillRect l="0" t="0" r="0" b="0"/>
            </a:stretch>
          </a:blipFill>
        </p:spPr>
      </p:sp>
      <p:sp>
        <p:nvSpPr>
          <p:cNvPr name="Freeform 7" id="7"/>
          <p:cNvSpPr/>
          <p:nvPr/>
        </p:nvSpPr>
        <p:spPr>
          <a:xfrm flipH="false" flipV="false" rot="0">
            <a:off x="7544796" y="8768686"/>
            <a:ext cx="9937810" cy="1385137"/>
          </a:xfrm>
          <a:custGeom>
            <a:avLst/>
            <a:gdLst/>
            <a:ahLst/>
            <a:cxnLst/>
            <a:rect r="r" b="b" t="t" l="l"/>
            <a:pathLst>
              <a:path h="1385137" w="9937810">
                <a:moveTo>
                  <a:pt x="0" y="0"/>
                </a:moveTo>
                <a:lnTo>
                  <a:pt x="9937810" y="0"/>
                </a:lnTo>
                <a:lnTo>
                  <a:pt x="9937810" y="1385138"/>
                </a:lnTo>
                <a:lnTo>
                  <a:pt x="0" y="1385138"/>
                </a:lnTo>
                <a:lnTo>
                  <a:pt x="0" y="0"/>
                </a:lnTo>
                <a:close/>
              </a:path>
            </a:pathLst>
          </a:custGeom>
          <a:blipFill>
            <a:blip r:embed="rId6"/>
            <a:stretch>
              <a:fillRect l="0" t="0" r="0" b="0"/>
            </a:stretch>
          </a:blipFill>
        </p:spPr>
      </p:sp>
      <p:sp>
        <p:nvSpPr>
          <p:cNvPr name="TextBox 8" id="8"/>
          <p:cNvSpPr txBox="true"/>
          <p:nvPr/>
        </p:nvSpPr>
        <p:spPr>
          <a:xfrm rot="0">
            <a:off x="1028700" y="2483018"/>
            <a:ext cx="16230600" cy="4572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And here it’s shown how it’s done:</a:t>
            </a:r>
          </a:p>
        </p:txBody>
      </p:sp>
      <p:sp>
        <p:nvSpPr>
          <p:cNvPr name="TextBox 9" id="9"/>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3254543"/>
            <a:ext cx="11140586" cy="1128913"/>
          </a:xfrm>
          <a:custGeom>
            <a:avLst/>
            <a:gdLst/>
            <a:ahLst/>
            <a:cxnLst/>
            <a:rect r="r" b="b" t="t" l="l"/>
            <a:pathLst>
              <a:path h="1128913" w="11140586">
                <a:moveTo>
                  <a:pt x="0" y="0"/>
                </a:moveTo>
                <a:lnTo>
                  <a:pt x="11140586" y="0"/>
                </a:lnTo>
                <a:lnTo>
                  <a:pt x="11140586" y="1128912"/>
                </a:lnTo>
                <a:lnTo>
                  <a:pt x="0" y="1128912"/>
                </a:lnTo>
                <a:lnTo>
                  <a:pt x="0" y="0"/>
                </a:lnTo>
                <a:close/>
              </a:path>
            </a:pathLst>
          </a:custGeom>
          <a:blipFill>
            <a:blip r:embed="rId2"/>
            <a:stretch>
              <a:fillRect l="0" t="0" r="0" b="0"/>
            </a:stretch>
          </a:blipFill>
        </p:spPr>
      </p:sp>
      <p:sp>
        <p:nvSpPr>
          <p:cNvPr name="Freeform 4" id="4"/>
          <p:cNvSpPr/>
          <p:nvPr/>
        </p:nvSpPr>
        <p:spPr>
          <a:xfrm flipH="false" flipV="false" rot="0">
            <a:off x="1028700" y="4383455"/>
            <a:ext cx="11166763" cy="1797289"/>
          </a:xfrm>
          <a:custGeom>
            <a:avLst/>
            <a:gdLst/>
            <a:ahLst/>
            <a:cxnLst/>
            <a:rect r="r" b="b" t="t" l="l"/>
            <a:pathLst>
              <a:path h="1797289" w="11166763">
                <a:moveTo>
                  <a:pt x="0" y="0"/>
                </a:moveTo>
                <a:lnTo>
                  <a:pt x="11166763" y="0"/>
                </a:lnTo>
                <a:lnTo>
                  <a:pt x="11166763" y="1797290"/>
                </a:lnTo>
                <a:lnTo>
                  <a:pt x="0" y="1797290"/>
                </a:lnTo>
                <a:lnTo>
                  <a:pt x="0" y="0"/>
                </a:lnTo>
                <a:close/>
              </a:path>
            </a:pathLst>
          </a:custGeom>
          <a:blipFill>
            <a:blip r:embed="rId3"/>
            <a:stretch>
              <a:fillRect l="0" t="0" r="0" b="0"/>
            </a:stretch>
          </a:blipFill>
        </p:spPr>
      </p:sp>
      <p:sp>
        <p:nvSpPr>
          <p:cNvPr name="Freeform 5" id="5"/>
          <p:cNvSpPr/>
          <p:nvPr/>
        </p:nvSpPr>
        <p:spPr>
          <a:xfrm flipH="false" flipV="false" rot="0">
            <a:off x="10606064" y="6016274"/>
            <a:ext cx="7681936" cy="4270726"/>
          </a:xfrm>
          <a:custGeom>
            <a:avLst/>
            <a:gdLst/>
            <a:ahLst/>
            <a:cxnLst/>
            <a:rect r="r" b="b" t="t" l="l"/>
            <a:pathLst>
              <a:path h="4270726" w="7681936">
                <a:moveTo>
                  <a:pt x="0" y="0"/>
                </a:moveTo>
                <a:lnTo>
                  <a:pt x="7681936" y="0"/>
                </a:lnTo>
                <a:lnTo>
                  <a:pt x="7681936" y="4270726"/>
                </a:lnTo>
                <a:lnTo>
                  <a:pt x="0" y="4270726"/>
                </a:lnTo>
                <a:lnTo>
                  <a:pt x="0" y="0"/>
                </a:lnTo>
                <a:close/>
              </a:path>
            </a:pathLst>
          </a:custGeom>
          <a:blipFill>
            <a:blip r:embed="rId4"/>
            <a:stretch>
              <a:fillRect l="0" t="0" r="0" b="0"/>
            </a:stretch>
          </a:blipFill>
        </p:spPr>
      </p:sp>
      <p:sp>
        <p:nvSpPr>
          <p:cNvPr name="TextBox 6" id="6"/>
          <p:cNvSpPr txBox="true"/>
          <p:nvPr/>
        </p:nvSpPr>
        <p:spPr>
          <a:xfrm rot="0">
            <a:off x="1028700" y="2483018"/>
            <a:ext cx="16230600" cy="4572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And finally, the last tasks of the second point, are these:</a:t>
            </a:r>
          </a:p>
        </p:txBody>
      </p:sp>
      <p:sp>
        <p:nvSpPr>
          <p:cNvPr name="TextBox 7" id="7"/>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
        <p:nvSpPr>
          <p:cNvPr name="TextBox 8" id="8"/>
          <p:cNvSpPr txBox="true"/>
          <p:nvPr/>
        </p:nvSpPr>
        <p:spPr>
          <a:xfrm rot="0">
            <a:off x="1028700" y="6456970"/>
            <a:ext cx="16230600" cy="4572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The yaml controllers file is this: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5547626"/>
            <a:ext cx="11784568" cy="4237560"/>
          </a:xfrm>
          <a:custGeom>
            <a:avLst/>
            <a:gdLst/>
            <a:ahLst/>
            <a:cxnLst/>
            <a:rect r="r" b="b" t="t" l="l"/>
            <a:pathLst>
              <a:path h="4237560" w="11784568">
                <a:moveTo>
                  <a:pt x="0" y="0"/>
                </a:moveTo>
                <a:lnTo>
                  <a:pt x="11784568" y="0"/>
                </a:lnTo>
                <a:lnTo>
                  <a:pt x="11784568" y="4237560"/>
                </a:lnTo>
                <a:lnTo>
                  <a:pt x="0" y="4237560"/>
                </a:lnTo>
                <a:lnTo>
                  <a:pt x="0" y="0"/>
                </a:lnTo>
                <a:close/>
              </a:path>
            </a:pathLst>
          </a:custGeom>
          <a:blipFill>
            <a:blip r:embed="rId2"/>
            <a:stretch>
              <a:fillRect l="0" t="0" r="0" b="0"/>
            </a:stretch>
          </a:blipFill>
        </p:spPr>
      </p:sp>
      <p:sp>
        <p:nvSpPr>
          <p:cNvPr name="Freeform 4" id="4"/>
          <p:cNvSpPr/>
          <p:nvPr/>
        </p:nvSpPr>
        <p:spPr>
          <a:xfrm flipH="false" flipV="false" rot="0">
            <a:off x="1028700" y="3254543"/>
            <a:ext cx="6935731" cy="2293084"/>
          </a:xfrm>
          <a:custGeom>
            <a:avLst/>
            <a:gdLst/>
            <a:ahLst/>
            <a:cxnLst/>
            <a:rect r="r" b="b" t="t" l="l"/>
            <a:pathLst>
              <a:path h="2293084" w="6935731">
                <a:moveTo>
                  <a:pt x="0" y="0"/>
                </a:moveTo>
                <a:lnTo>
                  <a:pt x="6935731" y="0"/>
                </a:lnTo>
                <a:lnTo>
                  <a:pt x="6935731" y="2293083"/>
                </a:lnTo>
                <a:lnTo>
                  <a:pt x="0" y="2293083"/>
                </a:lnTo>
                <a:lnTo>
                  <a:pt x="0" y="0"/>
                </a:lnTo>
                <a:close/>
              </a:path>
            </a:pathLst>
          </a:custGeom>
          <a:blipFill>
            <a:blip r:embed="rId3"/>
            <a:stretch>
              <a:fillRect l="0" t="0" r="0" b="0"/>
            </a:stretch>
          </a:blipFill>
        </p:spPr>
      </p:sp>
      <p:sp>
        <p:nvSpPr>
          <p:cNvPr name="Freeform 5" id="5"/>
          <p:cNvSpPr/>
          <p:nvPr/>
        </p:nvSpPr>
        <p:spPr>
          <a:xfrm flipH="false" flipV="false" rot="0">
            <a:off x="1028700" y="9785186"/>
            <a:ext cx="16230600" cy="470952"/>
          </a:xfrm>
          <a:custGeom>
            <a:avLst/>
            <a:gdLst/>
            <a:ahLst/>
            <a:cxnLst/>
            <a:rect r="r" b="b" t="t" l="l"/>
            <a:pathLst>
              <a:path h="470952" w="16230600">
                <a:moveTo>
                  <a:pt x="0" y="0"/>
                </a:moveTo>
                <a:lnTo>
                  <a:pt x="16230600" y="0"/>
                </a:lnTo>
                <a:lnTo>
                  <a:pt x="16230600" y="470952"/>
                </a:lnTo>
                <a:lnTo>
                  <a:pt x="0" y="470952"/>
                </a:lnTo>
                <a:lnTo>
                  <a:pt x="0" y="0"/>
                </a:lnTo>
                <a:close/>
              </a:path>
            </a:pathLst>
          </a:custGeom>
          <a:blipFill>
            <a:blip r:embed="rId4"/>
            <a:stretch>
              <a:fillRect l="0" t="0" r="0" b="0"/>
            </a:stretch>
          </a:blipFill>
        </p:spPr>
      </p:sp>
      <p:sp>
        <p:nvSpPr>
          <p:cNvPr name="TextBox 6" id="6"/>
          <p:cNvSpPr txBox="true"/>
          <p:nvPr/>
        </p:nvSpPr>
        <p:spPr>
          <a:xfrm rot="0">
            <a:off x="1028700" y="2483018"/>
            <a:ext cx="16230600" cy="4572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The results of this point are here:</a:t>
            </a:r>
          </a:p>
        </p:txBody>
      </p:sp>
      <p:sp>
        <p:nvSpPr>
          <p:cNvPr name="TextBox 7" id="7"/>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323263" y="2352061"/>
            <a:ext cx="17641474" cy="3061955"/>
          </a:xfrm>
          <a:custGeom>
            <a:avLst/>
            <a:gdLst/>
            <a:ahLst/>
            <a:cxnLst/>
            <a:rect r="r" b="b" t="t" l="l"/>
            <a:pathLst>
              <a:path h="3061955" w="17641474">
                <a:moveTo>
                  <a:pt x="0" y="0"/>
                </a:moveTo>
                <a:lnTo>
                  <a:pt x="17641474" y="0"/>
                </a:lnTo>
                <a:lnTo>
                  <a:pt x="17641474" y="3061955"/>
                </a:lnTo>
                <a:lnTo>
                  <a:pt x="0" y="3061955"/>
                </a:lnTo>
                <a:lnTo>
                  <a:pt x="0" y="0"/>
                </a:lnTo>
                <a:close/>
              </a:path>
            </a:pathLst>
          </a:custGeom>
          <a:blipFill>
            <a:blip r:embed="rId2"/>
            <a:stretch>
              <a:fillRect l="0" t="0" r="0" b="0"/>
            </a:stretch>
          </a:blipFill>
        </p:spPr>
      </p:sp>
      <p:sp>
        <p:nvSpPr>
          <p:cNvPr name="Freeform 4" id="4"/>
          <p:cNvSpPr/>
          <p:nvPr/>
        </p:nvSpPr>
        <p:spPr>
          <a:xfrm flipH="false" flipV="false" rot="0">
            <a:off x="323263" y="5485299"/>
            <a:ext cx="17641474" cy="2858675"/>
          </a:xfrm>
          <a:custGeom>
            <a:avLst/>
            <a:gdLst/>
            <a:ahLst/>
            <a:cxnLst/>
            <a:rect r="r" b="b" t="t" l="l"/>
            <a:pathLst>
              <a:path h="2858675" w="17641474">
                <a:moveTo>
                  <a:pt x="0" y="0"/>
                </a:moveTo>
                <a:lnTo>
                  <a:pt x="17641474" y="0"/>
                </a:lnTo>
                <a:lnTo>
                  <a:pt x="17641474" y="2858675"/>
                </a:lnTo>
                <a:lnTo>
                  <a:pt x="0" y="2858675"/>
                </a:lnTo>
                <a:lnTo>
                  <a:pt x="0" y="0"/>
                </a:lnTo>
                <a:close/>
              </a:path>
            </a:pathLst>
          </a:custGeom>
          <a:blipFill>
            <a:blip r:embed="rId3"/>
            <a:stretch>
              <a:fillRect l="0" t="0" r="0" b="0"/>
            </a:stretch>
          </a:blipFill>
        </p:spPr>
      </p:sp>
      <p:sp>
        <p:nvSpPr>
          <p:cNvPr name="Freeform 5" id="5"/>
          <p:cNvSpPr/>
          <p:nvPr/>
        </p:nvSpPr>
        <p:spPr>
          <a:xfrm flipH="false" flipV="false" rot="0">
            <a:off x="893156" y="8415257"/>
            <a:ext cx="16501688" cy="1871743"/>
          </a:xfrm>
          <a:custGeom>
            <a:avLst/>
            <a:gdLst/>
            <a:ahLst/>
            <a:cxnLst/>
            <a:rect r="r" b="b" t="t" l="l"/>
            <a:pathLst>
              <a:path h="1871743" w="16501688">
                <a:moveTo>
                  <a:pt x="0" y="0"/>
                </a:moveTo>
                <a:lnTo>
                  <a:pt x="16501688" y="0"/>
                </a:lnTo>
                <a:lnTo>
                  <a:pt x="16501688" y="1871743"/>
                </a:lnTo>
                <a:lnTo>
                  <a:pt x="0" y="1871743"/>
                </a:lnTo>
                <a:lnTo>
                  <a:pt x="0" y="0"/>
                </a:lnTo>
                <a:close/>
              </a:path>
            </a:pathLst>
          </a:custGeom>
          <a:blipFill>
            <a:blip r:embed="rId4"/>
            <a:stretch>
              <a:fillRect l="0" t="0" r="0" b="0"/>
            </a:stretch>
          </a:blipFill>
        </p:spPr>
      </p:sp>
      <p:sp>
        <p:nvSpPr>
          <p:cNvPr name="TextBox 6" id="6"/>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0" y="2597515"/>
            <a:ext cx="8730259" cy="5181373"/>
          </a:xfrm>
          <a:custGeom>
            <a:avLst/>
            <a:gdLst/>
            <a:ahLst/>
            <a:cxnLst/>
            <a:rect r="r" b="b" t="t" l="l"/>
            <a:pathLst>
              <a:path h="5181373" w="8730259">
                <a:moveTo>
                  <a:pt x="0" y="0"/>
                </a:moveTo>
                <a:lnTo>
                  <a:pt x="8730259" y="0"/>
                </a:lnTo>
                <a:lnTo>
                  <a:pt x="8730259" y="5181373"/>
                </a:lnTo>
                <a:lnTo>
                  <a:pt x="0" y="5181373"/>
                </a:lnTo>
                <a:lnTo>
                  <a:pt x="0" y="0"/>
                </a:lnTo>
                <a:close/>
              </a:path>
            </a:pathLst>
          </a:custGeom>
          <a:blipFill>
            <a:blip r:embed="rId2"/>
            <a:stretch>
              <a:fillRect l="0" t="0" r="0" b="0"/>
            </a:stretch>
          </a:blipFill>
        </p:spPr>
      </p:sp>
      <p:sp>
        <p:nvSpPr>
          <p:cNvPr name="Freeform 4" id="4"/>
          <p:cNvSpPr/>
          <p:nvPr/>
        </p:nvSpPr>
        <p:spPr>
          <a:xfrm flipH="false" flipV="false" rot="0">
            <a:off x="8730259" y="2597515"/>
            <a:ext cx="9557741" cy="4367114"/>
          </a:xfrm>
          <a:custGeom>
            <a:avLst/>
            <a:gdLst/>
            <a:ahLst/>
            <a:cxnLst/>
            <a:rect r="r" b="b" t="t" l="l"/>
            <a:pathLst>
              <a:path h="4367114" w="9557741">
                <a:moveTo>
                  <a:pt x="0" y="0"/>
                </a:moveTo>
                <a:lnTo>
                  <a:pt x="9557741" y="0"/>
                </a:lnTo>
                <a:lnTo>
                  <a:pt x="9557741" y="4367114"/>
                </a:lnTo>
                <a:lnTo>
                  <a:pt x="0" y="4367114"/>
                </a:lnTo>
                <a:lnTo>
                  <a:pt x="0" y="0"/>
                </a:lnTo>
                <a:close/>
              </a:path>
            </a:pathLst>
          </a:custGeom>
          <a:blipFill>
            <a:blip r:embed="rId3"/>
            <a:stretch>
              <a:fillRect l="0" t="0" r="0" b="0"/>
            </a:stretch>
          </a:blipFill>
        </p:spPr>
      </p:sp>
      <p:sp>
        <p:nvSpPr>
          <p:cNvPr name="Freeform 5" id="5"/>
          <p:cNvSpPr/>
          <p:nvPr/>
        </p:nvSpPr>
        <p:spPr>
          <a:xfrm flipH="false" flipV="false" rot="0">
            <a:off x="2078320" y="8802272"/>
            <a:ext cx="13714483" cy="1484728"/>
          </a:xfrm>
          <a:custGeom>
            <a:avLst/>
            <a:gdLst/>
            <a:ahLst/>
            <a:cxnLst/>
            <a:rect r="r" b="b" t="t" l="l"/>
            <a:pathLst>
              <a:path h="1484728" w="13714483">
                <a:moveTo>
                  <a:pt x="0" y="0"/>
                </a:moveTo>
                <a:lnTo>
                  <a:pt x="13714484" y="0"/>
                </a:lnTo>
                <a:lnTo>
                  <a:pt x="13714484" y="1484728"/>
                </a:lnTo>
                <a:lnTo>
                  <a:pt x="0" y="1484728"/>
                </a:lnTo>
                <a:lnTo>
                  <a:pt x="0" y="0"/>
                </a:lnTo>
                <a:close/>
              </a:path>
            </a:pathLst>
          </a:custGeom>
          <a:blipFill>
            <a:blip r:embed="rId4"/>
            <a:stretch>
              <a:fillRect l="0" t="0" r="0" b="0"/>
            </a:stretch>
          </a:blipFill>
        </p:spPr>
      </p:sp>
      <p:sp>
        <p:nvSpPr>
          <p:cNvPr name="Freeform 6" id="6"/>
          <p:cNvSpPr/>
          <p:nvPr/>
        </p:nvSpPr>
        <p:spPr>
          <a:xfrm flipH="false" flipV="false" rot="0">
            <a:off x="15792804" y="6964629"/>
            <a:ext cx="2495196" cy="3322371"/>
          </a:xfrm>
          <a:custGeom>
            <a:avLst/>
            <a:gdLst/>
            <a:ahLst/>
            <a:cxnLst/>
            <a:rect r="r" b="b" t="t" l="l"/>
            <a:pathLst>
              <a:path h="3322371" w="2495196">
                <a:moveTo>
                  <a:pt x="0" y="0"/>
                </a:moveTo>
                <a:lnTo>
                  <a:pt x="2495196" y="0"/>
                </a:lnTo>
                <a:lnTo>
                  <a:pt x="2495196" y="3322371"/>
                </a:lnTo>
                <a:lnTo>
                  <a:pt x="0" y="3322371"/>
                </a:lnTo>
                <a:lnTo>
                  <a:pt x="0" y="0"/>
                </a:lnTo>
                <a:close/>
              </a:path>
            </a:pathLst>
          </a:custGeom>
          <a:blipFill>
            <a:blip r:embed="rId5"/>
            <a:stretch>
              <a:fillRect l="0" t="0" r="0" b="0"/>
            </a:stretch>
          </a:blipFill>
        </p:spPr>
      </p:sp>
      <p:sp>
        <p:nvSpPr>
          <p:cNvPr name="TextBox 7" id="7"/>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3673643"/>
            <a:ext cx="11282344" cy="4348107"/>
          </a:xfrm>
          <a:custGeom>
            <a:avLst/>
            <a:gdLst/>
            <a:ahLst/>
            <a:cxnLst/>
            <a:rect r="r" b="b" t="t" l="l"/>
            <a:pathLst>
              <a:path h="4348107" w="11282344">
                <a:moveTo>
                  <a:pt x="0" y="0"/>
                </a:moveTo>
                <a:lnTo>
                  <a:pt x="11282344" y="0"/>
                </a:lnTo>
                <a:lnTo>
                  <a:pt x="11282344" y="4348107"/>
                </a:lnTo>
                <a:lnTo>
                  <a:pt x="0" y="4348107"/>
                </a:lnTo>
                <a:lnTo>
                  <a:pt x="0" y="0"/>
                </a:lnTo>
                <a:close/>
              </a:path>
            </a:pathLst>
          </a:custGeom>
          <a:blipFill>
            <a:blip r:embed="rId2"/>
            <a:stretch>
              <a:fillRect l="0" t="0" r="0" b="0"/>
            </a:stretch>
          </a:blipFill>
        </p:spPr>
      </p:sp>
      <p:sp>
        <p:nvSpPr>
          <p:cNvPr name="TextBox 4" id="4"/>
          <p:cNvSpPr txBox="true"/>
          <p:nvPr/>
        </p:nvSpPr>
        <p:spPr>
          <a:xfrm rot="0">
            <a:off x="1028700" y="2483018"/>
            <a:ext cx="16230600" cy="8763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The third point consist basically in adding a camera sensor to the robot and check if the images from it are correctly visualized. In detail, here are the tasks to accomplish:</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
        <p:nvSpPr>
          <p:cNvPr name="TextBox 6" id="6"/>
          <p:cNvSpPr txBox="true"/>
          <p:nvPr/>
        </p:nvSpPr>
        <p:spPr>
          <a:xfrm rot="0">
            <a:off x="1028700" y="8297975"/>
            <a:ext cx="16230600" cy="8763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The hardest thing to do in this case wa to rotate properly the camera frame, so that the view can be visualized in the right orientacion.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3869437"/>
            <a:ext cx="5386464" cy="3124616"/>
          </a:xfrm>
          <a:custGeom>
            <a:avLst/>
            <a:gdLst/>
            <a:ahLst/>
            <a:cxnLst/>
            <a:rect r="r" b="b" t="t" l="l"/>
            <a:pathLst>
              <a:path h="3124616" w="5386464">
                <a:moveTo>
                  <a:pt x="0" y="0"/>
                </a:moveTo>
                <a:lnTo>
                  <a:pt x="5386464" y="0"/>
                </a:lnTo>
                <a:lnTo>
                  <a:pt x="5386464" y="3124616"/>
                </a:lnTo>
                <a:lnTo>
                  <a:pt x="0" y="3124616"/>
                </a:lnTo>
                <a:lnTo>
                  <a:pt x="0" y="0"/>
                </a:lnTo>
                <a:close/>
              </a:path>
            </a:pathLst>
          </a:custGeom>
          <a:blipFill>
            <a:blip r:embed="rId2"/>
            <a:stretch>
              <a:fillRect l="0" t="0" r="0" b="0"/>
            </a:stretch>
          </a:blipFill>
        </p:spPr>
      </p:sp>
      <p:sp>
        <p:nvSpPr>
          <p:cNvPr name="Freeform 4" id="4"/>
          <p:cNvSpPr/>
          <p:nvPr/>
        </p:nvSpPr>
        <p:spPr>
          <a:xfrm flipH="false" flipV="false" rot="0">
            <a:off x="6598390" y="3869437"/>
            <a:ext cx="10660910" cy="2377504"/>
          </a:xfrm>
          <a:custGeom>
            <a:avLst/>
            <a:gdLst/>
            <a:ahLst/>
            <a:cxnLst/>
            <a:rect r="r" b="b" t="t" l="l"/>
            <a:pathLst>
              <a:path h="2377504" w="10660910">
                <a:moveTo>
                  <a:pt x="0" y="0"/>
                </a:moveTo>
                <a:lnTo>
                  <a:pt x="10660910" y="0"/>
                </a:lnTo>
                <a:lnTo>
                  <a:pt x="10660910" y="2377504"/>
                </a:lnTo>
                <a:lnTo>
                  <a:pt x="0" y="2377504"/>
                </a:lnTo>
                <a:lnTo>
                  <a:pt x="0" y="0"/>
                </a:lnTo>
                <a:close/>
              </a:path>
            </a:pathLst>
          </a:custGeom>
          <a:blipFill>
            <a:blip r:embed="rId3"/>
            <a:stretch>
              <a:fillRect l="0" t="0" r="0" b="0"/>
            </a:stretch>
          </a:blipFill>
        </p:spPr>
      </p:sp>
      <p:sp>
        <p:nvSpPr>
          <p:cNvPr name="Freeform 5" id="5"/>
          <p:cNvSpPr/>
          <p:nvPr/>
        </p:nvSpPr>
        <p:spPr>
          <a:xfrm flipH="false" flipV="false" rot="0">
            <a:off x="12635492" y="5976008"/>
            <a:ext cx="4623808" cy="4310992"/>
          </a:xfrm>
          <a:custGeom>
            <a:avLst/>
            <a:gdLst/>
            <a:ahLst/>
            <a:cxnLst/>
            <a:rect r="r" b="b" t="t" l="l"/>
            <a:pathLst>
              <a:path h="4310992" w="4623808">
                <a:moveTo>
                  <a:pt x="0" y="0"/>
                </a:moveTo>
                <a:lnTo>
                  <a:pt x="4623808" y="0"/>
                </a:lnTo>
                <a:lnTo>
                  <a:pt x="4623808" y="4310992"/>
                </a:lnTo>
                <a:lnTo>
                  <a:pt x="0" y="4310992"/>
                </a:lnTo>
                <a:lnTo>
                  <a:pt x="0" y="0"/>
                </a:lnTo>
                <a:close/>
              </a:path>
            </a:pathLst>
          </a:custGeom>
          <a:blipFill>
            <a:blip r:embed="rId4"/>
            <a:stretch>
              <a:fillRect l="0" t="0" r="0" b="0"/>
            </a:stretch>
          </a:blipFill>
        </p:spPr>
      </p:sp>
      <p:sp>
        <p:nvSpPr>
          <p:cNvPr name="Freeform 6" id="6"/>
          <p:cNvSpPr/>
          <p:nvPr/>
        </p:nvSpPr>
        <p:spPr>
          <a:xfrm flipH="false" flipV="false" rot="0">
            <a:off x="1028700" y="6994053"/>
            <a:ext cx="9771630" cy="3292947"/>
          </a:xfrm>
          <a:custGeom>
            <a:avLst/>
            <a:gdLst/>
            <a:ahLst/>
            <a:cxnLst/>
            <a:rect r="r" b="b" t="t" l="l"/>
            <a:pathLst>
              <a:path h="3292947" w="9771630">
                <a:moveTo>
                  <a:pt x="0" y="0"/>
                </a:moveTo>
                <a:lnTo>
                  <a:pt x="9771630" y="0"/>
                </a:lnTo>
                <a:lnTo>
                  <a:pt x="9771630" y="3292947"/>
                </a:lnTo>
                <a:lnTo>
                  <a:pt x="0" y="3292947"/>
                </a:lnTo>
                <a:lnTo>
                  <a:pt x="0" y="0"/>
                </a:lnTo>
                <a:close/>
              </a:path>
            </a:pathLst>
          </a:custGeom>
          <a:blipFill>
            <a:blip r:embed="rId5"/>
            <a:stretch>
              <a:fillRect l="0" t="0" r="0" b="0"/>
            </a:stretch>
          </a:blipFill>
        </p:spPr>
      </p:sp>
      <p:sp>
        <p:nvSpPr>
          <p:cNvPr name="TextBox 7" id="7"/>
          <p:cNvSpPr txBox="true"/>
          <p:nvPr/>
        </p:nvSpPr>
        <p:spPr>
          <a:xfrm rot="0">
            <a:off x="1028700" y="2483018"/>
            <a:ext cx="16230600" cy="12954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Here are shown the pieces of code that we need to add a camera to out robot, practically, it works just like another link element attached to the robot by a sort of joint (we can notice that the joint is fixed and that for set the orientation we use RPY angles):</a:t>
            </a:r>
          </a:p>
        </p:txBody>
      </p:sp>
      <p:sp>
        <p:nvSpPr>
          <p:cNvPr name="TextBox 8" id="8"/>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0" y="3254543"/>
            <a:ext cx="18288000" cy="918828"/>
          </a:xfrm>
          <a:custGeom>
            <a:avLst/>
            <a:gdLst/>
            <a:ahLst/>
            <a:cxnLst/>
            <a:rect r="r" b="b" t="t" l="l"/>
            <a:pathLst>
              <a:path h="918828" w="18288000">
                <a:moveTo>
                  <a:pt x="0" y="0"/>
                </a:moveTo>
                <a:lnTo>
                  <a:pt x="18288000" y="0"/>
                </a:lnTo>
                <a:lnTo>
                  <a:pt x="18288000" y="918828"/>
                </a:lnTo>
                <a:lnTo>
                  <a:pt x="0" y="918828"/>
                </a:lnTo>
                <a:lnTo>
                  <a:pt x="0" y="0"/>
                </a:lnTo>
                <a:close/>
              </a:path>
            </a:pathLst>
          </a:custGeom>
          <a:blipFill>
            <a:blip r:embed="rId2"/>
            <a:stretch>
              <a:fillRect l="0" t="0" r="0" b="0"/>
            </a:stretch>
          </a:blipFill>
        </p:spPr>
      </p:sp>
      <p:sp>
        <p:nvSpPr>
          <p:cNvPr name="Freeform 4" id="4"/>
          <p:cNvSpPr/>
          <p:nvPr/>
        </p:nvSpPr>
        <p:spPr>
          <a:xfrm flipH="false" flipV="false" rot="0">
            <a:off x="0" y="4173371"/>
            <a:ext cx="7148355" cy="6113629"/>
          </a:xfrm>
          <a:custGeom>
            <a:avLst/>
            <a:gdLst/>
            <a:ahLst/>
            <a:cxnLst/>
            <a:rect r="r" b="b" t="t" l="l"/>
            <a:pathLst>
              <a:path h="6113629" w="7148355">
                <a:moveTo>
                  <a:pt x="0" y="0"/>
                </a:moveTo>
                <a:lnTo>
                  <a:pt x="7148355" y="0"/>
                </a:lnTo>
                <a:lnTo>
                  <a:pt x="7148355" y="6113629"/>
                </a:lnTo>
                <a:lnTo>
                  <a:pt x="0" y="6113629"/>
                </a:lnTo>
                <a:lnTo>
                  <a:pt x="0" y="0"/>
                </a:lnTo>
                <a:close/>
              </a:path>
            </a:pathLst>
          </a:custGeom>
          <a:blipFill>
            <a:blip r:embed="rId3"/>
            <a:stretch>
              <a:fillRect l="0" t="0" r="0" b="0"/>
            </a:stretch>
          </a:blipFill>
        </p:spPr>
      </p:sp>
      <p:sp>
        <p:nvSpPr>
          <p:cNvPr name="Freeform 5" id="5"/>
          <p:cNvSpPr/>
          <p:nvPr/>
        </p:nvSpPr>
        <p:spPr>
          <a:xfrm flipH="false" flipV="false" rot="0">
            <a:off x="10440853" y="4173371"/>
            <a:ext cx="7847147" cy="6113629"/>
          </a:xfrm>
          <a:custGeom>
            <a:avLst/>
            <a:gdLst/>
            <a:ahLst/>
            <a:cxnLst/>
            <a:rect r="r" b="b" t="t" l="l"/>
            <a:pathLst>
              <a:path h="6113629" w="7847147">
                <a:moveTo>
                  <a:pt x="0" y="0"/>
                </a:moveTo>
                <a:lnTo>
                  <a:pt x="7847147" y="0"/>
                </a:lnTo>
                <a:lnTo>
                  <a:pt x="7847147" y="6113629"/>
                </a:lnTo>
                <a:lnTo>
                  <a:pt x="0" y="6113629"/>
                </a:lnTo>
                <a:lnTo>
                  <a:pt x="0" y="0"/>
                </a:lnTo>
                <a:close/>
              </a:path>
            </a:pathLst>
          </a:custGeom>
          <a:blipFill>
            <a:blip r:embed="rId4"/>
            <a:stretch>
              <a:fillRect l="0" t="0" r="0" b="0"/>
            </a:stretch>
          </a:blipFill>
        </p:spPr>
      </p:sp>
      <p:sp>
        <p:nvSpPr>
          <p:cNvPr name="TextBox 6" id="6"/>
          <p:cNvSpPr txBox="true"/>
          <p:nvPr/>
        </p:nvSpPr>
        <p:spPr>
          <a:xfrm rot="0">
            <a:off x="1028700" y="2483018"/>
            <a:ext cx="16230600" cy="4572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And here instead, are shown the results of what I’ve done in this point:</a:t>
            </a:r>
          </a:p>
        </p:txBody>
      </p:sp>
      <p:sp>
        <p:nvSpPr>
          <p:cNvPr name="TextBox 7" id="7"/>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4930943"/>
            <a:ext cx="11272849" cy="3776618"/>
          </a:xfrm>
          <a:custGeom>
            <a:avLst/>
            <a:gdLst/>
            <a:ahLst/>
            <a:cxnLst/>
            <a:rect r="r" b="b" t="t" l="l"/>
            <a:pathLst>
              <a:path h="3776618" w="11272849">
                <a:moveTo>
                  <a:pt x="0" y="0"/>
                </a:moveTo>
                <a:lnTo>
                  <a:pt x="11272849" y="0"/>
                </a:lnTo>
                <a:lnTo>
                  <a:pt x="11272849" y="3776618"/>
                </a:lnTo>
                <a:lnTo>
                  <a:pt x="0" y="3776618"/>
                </a:lnTo>
                <a:lnTo>
                  <a:pt x="0" y="0"/>
                </a:lnTo>
                <a:close/>
              </a:path>
            </a:pathLst>
          </a:custGeom>
          <a:blipFill>
            <a:blip r:embed="rId2"/>
            <a:stretch>
              <a:fillRect l="0" t="0" r="0" b="0"/>
            </a:stretch>
          </a:blipFill>
        </p:spPr>
      </p:sp>
      <p:sp>
        <p:nvSpPr>
          <p:cNvPr name="TextBox 4" id="4"/>
          <p:cNvSpPr txBox="true"/>
          <p:nvPr/>
        </p:nvSpPr>
        <p:spPr>
          <a:xfrm rot="0">
            <a:off x="1028700" y="2483018"/>
            <a:ext cx="16230600" cy="21336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The last point of this homework, asks us to create a ros2 node in c++, which function is to listen the joint state broadcaster, so it would have the information about the current state of the joints, and then print it. But also, another function of this node is to send joint desidered configurations, on the command interface (in position) se we can move the robot without sending manually the commands (like did before). The things to do are those:</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3254543"/>
            <a:ext cx="7580497" cy="4101525"/>
          </a:xfrm>
          <a:custGeom>
            <a:avLst/>
            <a:gdLst/>
            <a:ahLst/>
            <a:cxnLst/>
            <a:rect r="r" b="b" t="t" l="l"/>
            <a:pathLst>
              <a:path h="4101525" w="7580497">
                <a:moveTo>
                  <a:pt x="0" y="0"/>
                </a:moveTo>
                <a:lnTo>
                  <a:pt x="7580497" y="0"/>
                </a:lnTo>
                <a:lnTo>
                  <a:pt x="7580497" y="4101525"/>
                </a:lnTo>
                <a:lnTo>
                  <a:pt x="0" y="4101525"/>
                </a:lnTo>
                <a:lnTo>
                  <a:pt x="0" y="0"/>
                </a:lnTo>
                <a:close/>
              </a:path>
            </a:pathLst>
          </a:custGeom>
          <a:blipFill>
            <a:blip r:embed="rId2"/>
            <a:stretch>
              <a:fillRect l="0" t="0" r="0" b="0"/>
            </a:stretch>
          </a:blipFill>
        </p:spPr>
      </p:sp>
      <p:sp>
        <p:nvSpPr>
          <p:cNvPr name="Freeform 4" id="4"/>
          <p:cNvSpPr/>
          <p:nvPr/>
        </p:nvSpPr>
        <p:spPr>
          <a:xfrm flipH="false" flipV="false" rot="0">
            <a:off x="10824444" y="4107212"/>
            <a:ext cx="6434856" cy="2072576"/>
          </a:xfrm>
          <a:custGeom>
            <a:avLst/>
            <a:gdLst/>
            <a:ahLst/>
            <a:cxnLst/>
            <a:rect r="r" b="b" t="t" l="l"/>
            <a:pathLst>
              <a:path h="2072576" w="6434856">
                <a:moveTo>
                  <a:pt x="0" y="0"/>
                </a:moveTo>
                <a:lnTo>
                  <a:pt x="6434856" y="0"/>
                </a:lnTo>
                <a:lnTo>
                  <a:pt x="6434856" y="2072576"/>
                </a:lnTo>
                <a:lnTo>
                  <a:pt x="0" y="2072576"/>
                </a:lnTo>
                <a:lnTo>
                  <a:pt x="0" y="0"/>
                </a:lnTo>
                <a:close/>
              </a:path>
            </a:pathLst>
          </a:custGeom>
          <a:blipFill>
            <a:blip r:embed="rId3"/>
            <a:stretch>
              <a:fillRect l="0" t="0" r="0" b="0"/>
            </a:stretch>
          </a:blipFill>
        </p:spPr>
      </p:sp>
      <p:sp>
        <p:nvSpPr>
          <p:cNvPr name="TextBox 5" id="5"/>
          <p:cNvSpPr txBox="true"/>
          <p:nvPr/>
        </p:nvSpPr>
        <p:spPr>
          <a:xfrm rot="0">
            <a:off x="1028700" y="2483018"/>
            <a:ext cx="16230600" cy="4572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The needed dependencies in the CMakeList.txt file and in the package.xml are shown here:</a:t>
            </a:r>
          </a:p>
        </p:txBody>
      </p:sp>
      <p:sp>
        <p:nvSpPr>
          <p:cNvPr name="TextBox 6" id="6"/>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
        <p:nvSpPr>
          <p:cNvPr name="TextBox 7" id="7"/>
          <p:cNvSpPr txBox="true"/>
          <p:nvPr/>
        </p:nvSpPr>
        <p:spPr>
          <a:xfrm rot="0">
            <a:off x="1028700" y="7632293"/>
            <a:ext cx="16230600" cy="8763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We can also notice the add executable for our control node and the targeting of the dependencies for it.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4092743"/>
            <a:ext cx="11502959" cy="1607226"/>
          </a:xfrm>
          <a:custGeom>
            <a:avLst/>
            <a:gdLst/>
            <a:ahLst/>
            <a:cxnLst/>
            <a:rect r="r" b="b" t="t" l="l"/>
            <a:pathLst>
              <a:path h="1607226" w="11502959">
                <a:moveTo>
                  <a:pt x="0" y="0"/>
                </a:moveTo>
                <a:lnTo>
                  <a:pt x="11502959" y="0"/>
                </a:lnTo>
                <a:lnTo>
                  <a:pt x="11502959" y="1607226"/>
                </a:lnTo>
                <a:lnTo>
                  <a:pt x="0" y="1607226"/>
                </a:lnTo>
                <a:lnTo>
                  <a:pt x="0" y="0"/>
                </a:lnTo>
                <a:close/>
              </a:path>
            </a:pathLst>
          </a:custGeom>
          <a:blipFill>
            <a:blip r:embed="rId2"/>
            <a:stretch>
              <a:fillRect l="0" t="0" r="0" b="0"/>
            </a:stretch>
          </a:blipFill>
        </p:spPr>
      </p:sp>
      <p:sp>
        <p:nvSpPr>
          <p:cNvPr name="Freeform 4" id="4"/>
          <p:cNvSpPr/>
          <p:nvPr/>
        </p:nvSpPr>
        <p:spPr>
          <a:xfrm flipH="false" flipV="false" rot="0">
            <a:off x="1028700" y="5870674"/>
            <a:ext cx="11843890" cy="2051981"/>
          </a:xfrm>
          <a:custGeom>
            <a:avLst/>
            <a:gdLst/>
            <a:ahLst/>
            <a:cxnLst/>
            <a:rect r="r" b="b" t="t" l="l"/>
            <a:pathLst>
              <a:path h="2051981" w="11843890">
                <a:moveTo>
                  <a:pt x="0" y="0"/>
                </a:moveTo>
                <a:lnTo>
                  <a:pt x="11843890" y="0"/>
                </a:lnTo>
                <a:lnTo>
                  <a:pt x="11843890" y="2051981"/>
                </a:lnTo>
                <a:lnTo>
                  <a:pt x="0" y="2051981"/>
                </a:lnTo>
                <a:lnTo>
                  <a:pt x="0" y="0"/>
                </a:lnTo>
                <a:close/>
              </a:path>
            </a:pathLst>
          </a:custGeom>
          <a:blipFill>
            <a:blip r:embed="rId3"/>
            <a:stretch>
              <a:fillRect l="0" t="0" r="0" b="0"/>
            </a:stretch>
          </a:blipFill>
        </p:spPr>
      </p:sp>
      <p:sp>
        <p:nvSpPr>
          <p:cNvPr name="Freeform 5" id="5"/>
          <p:cNvSpPr/>
          <p:nvPr/>
        </p:nvSpPr>
        <p:spPr>
          <a:xfrm flipH="false" flipV="false" rot="0">
            <a:off x="1031671" y="8093361"/>
            <a:ext cx="11499989" cy="2193639"/>
          </a:xfrm>
          <a:custGeom>
            <a:avLst/>
            <a:gdLst/>
            <a:ahLst/>
            <a:cxnLst/>
            <a:rect r="r" b="b" t="t" l="l"/>
            <a:pathLst>
              <a:path h="2193639" w="11499989">
                <a:moveTo>
                  <a:pt x="0" y="0"/>
                </a:moveTo>
                <a:lnTo>
                  <a:pt x="11499988" y="0"/>
                </a:lnTo>
                <a:lnTo>
                  <a:pt x="11499988" y="2193639"/>
                </a:lnTo>
                <a:lnTo>
                  <a:pt x="0" y="2193639"/>
                </a:lnTo>
                <a:lnTo>
                  <a:pt x="0" y="0"/>
                </a:lnTo>
                <a:close/>
              </a:path>
            </a:pathLst>
          </a:custGeom>
          <a:blipFill>
            <a:blip r:embed="rId4"/>
            <a:stretch>
              <a:fillRect l="0" t="0" r="0" b="0"/>
            </a:stretch>
          </a:blipFill>
        </p:spPr>
      </p:sp>
      <p:sp>
        <p:nvSpPr>
          <p:cNvPr name="TextBox 6" id="6"/>
          <p:cNvSpPr txBox="true"/>
          <p:nvPr/>
        </p:nvSpPr>
        <p:spPr>
          <a:xfrm rot="0">
            <a:off x="1028700" y="2483018"/>
            <a:ext cx="16230600" cy="12954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So, like we said, one of the tasks of our control node is to be a listener of the joint state topic and publish with a certain frequency the current state of the joints. Here is the code for the subscriber function, and also an example of the printed output:</a:t>
            </a:r>
          </a:p>
        </p:txBody>
      </p:sp>
      <p:sp>
        <p:nvSpPr>
          <p:cNvPr name="TextBox 7" id="7"/>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Freeform 3" id="3"/>
          <p:cNvSpPr/>
          <p:nvPr/>
        </p:nvSpPr>
        <p:spPr>
          <a:xfrm flipH="false" flipV="false" rot="0">
            <a:off x="1028700" y="4092743"/>
            <a:ext cx="11779118" cy="978535"/>
          </a:xfrm>
          <a:custGeom>
            <a:avLst/>
            <a:gdLst/>
            <a:ahLst/>
            <a:cxnLst/>
            <a:rect r="r" b="b" t="t" l="l"/>
            <a:pathLst>
              <a:path h="978535" w="11779118">
                <a:moveTo>
                  <a:pt x="0" y="0"/>
                </a:moveTo>
                <a:lnTo>
                  <a:pt x="11779118" y="0"/>
                </a:lnTo>
                <a:lnTo>
                  <a:pt x="11779118" y="978535"/>
                </a:lnTo>
                <a:lnTo>
                  <a:pt x="0" y="978535"/>
                </a:lnTo>
                <a:lnTo>
                  <a:pt x="0" y="0"/>
                </a:lnTo>
                <a:close/>
              </a:path>
            </a:pathLst>
          </a:custGeom>
          <a:blipFill>
            <a:blip r:embed="rId2"/>
            <a:stretch>
              <a:fillRect l="0" t="0" r="0" b="0"/>
            </a:stretch>
          </a:blipFill>
        </p:spPr>
      </p:sp>
      <p:sp>
        <p:nvSpPr>
          <p:cNvPr name="Freeform 4" id="4"/>
          <p:cNvSpPr/>
          <p:nvPr/>
        </p:nvSpPr>
        <p:spPr>
          <a:xfrm flipH="false" flipV="false" rot="0">
            <a:off x="1028700" y="5385603"/>
            <a:ext cx="11335683" cy="2236386"/>
          </a:xfrm>
          <a:custGeom>
            <a:avLst/>
            <a:gdLst/>
            <a:ahLst/>
            <a:cxnLst/>
            <a:rect r="r" b="b" t="t" l="l"/>
            <a:pathLst>
              <a:path h="2236386" w="11335683">
                <a:moveTo>
                  <a:pt x="0" y="0"/>
                </a:moveTo>
                <a:lnTo>
                  <a:pt x="11335683" y="0"/>
                </a:lnTo>
                <a:lnTo>
                  <a:pt x="11335683" y="2236386"/>
                </a:lnTo>
                <a:lnTo>
                  <a:pt x="0" y="2236386"/>
                </a:lnTo>
                <a:lnTo>
                  <a:pt x="0" y="0"/>
                </a:lnTo>
                <a:close/>
              </a:path>
            </a:pathLst>
          </a:custGeom>
          <a:blipFill>
            <a:blip r:embed="rId3"/>
            <a:stretch>
              <a:fillRect l="0" t="0" r="0" b="0"/>
            </a:stretch>
          </a:blipFill>
        </p:spPr>
      </p:sp>
      <p:sp>
        <p:nvSpPr>
          <p:cNvPr name="Freeform 5" id="5"/>
          <p:cNvSpPr/>
          <p:nvPr/>
        </p:nvSpPr>
        <p:spPr>
          <a:xfrm flipH="false" flipV="false" rot="0">
            <a:off x="1028700" y="7936314"/>
            <a:ext cx="11645392" cy="1412720"/>
          </a:xfrm>
          <a:custGeom>
            <a:avLst/>
            <a:gdLst/>
            <a:ahLst/>
            <a:cxnLst/>
            <a:rect r="r" b="b" t="t" l="l"/>
            <a:pathLst>
              <a:path h="1412720" w="11645392">
                <a:moveTo>
                  <a:pt x="0" y="0"/>
                </a:moveTo>
                <a:lnTo>
                  <a:pt x="11645392" y="0"/>
                </a:lnTo>
                <a:lnTo>
                  <a:pt x="11645392" y="1412720"/>
                </a:lnTo>
                <a:lnTo>
                  <a:pt x="0" y="1412720"/>
                </a:lnTo>
                <a:lnTo>
                  <a:pt x="0" y="0"/>
                </a:lnTo>
                <a:close/>
              </a:path>
            </a:pathLst>
          </a:custGeom>
          <a:blipFill>
            <a:blip r:embed="rId4"/>
            <a:stretch>
              <a:fillRect l="0" t="0" r="0" b="0"/>
            </a:stretch>
          </a:blipFill>
        </p:spPr>
      </p:sp>
      <p:sp>
        <p:nvSpPr>
          <p:cNvPr name="TextBox 6" id="6"/>
          <p:cNvSpPr txBox="true"/>
          <p:nvPr/>
        </p:nvSpPr>
        <p:spPr>
          <a:xfrm rot="0">
            <a:off x="1028700" y="2483018"/>
            <a:ext cx="16230600" cy="12954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And here is shown how is implemented the last task of the node, so the part of it that publishes the position commands on the appropriate topic, which is being listened by the control part of our project:</a:t>
            </a:r>
          </a:p>
        </p:txBody>
      </p:sp>
      <p:sp>
        <p:nvSpPr>
          <p:cNvPr name="TextBox 7" id="7"/>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pic>
        <p:nvPicPr>
          <p:cNvPr name="Picture 3" id="3">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986060" y="3359318"/>
            <a:ext cx="12315880" cy="6927682"/>
          </a:xfrm>
          <a:prstGeom prst="rect">
            <a:avLst/>
          </a:prstGeom>
        </p:spPr>
      </p:pic>
      <p:sp>
        <p:nvSpPr>
          <p:cNvPr name="TextBox 4" id="4"/>
          <p:cNvSpPr txBox="true"/>
          <p:nvPr/>
        </p:nvSpPr>
        <p:spPr>
          <a:xfrm rot="0">
            <a:off x="1028700" y="2483018"/>
            <a:ext cx="16230600" cy="876300"/>
          </a:xfrm>
          <a:prstGeom prst="rect">
            <a:avLst/>
          </a:prstGeom>
        </p:spPr>
        <p:txBody>
          <a:bodyPr anchor="t" rtlCol="false" tIns="0" lIns="0" bIns="0" rIns="0">
            <a:spAutoFit/>
          </a:bodyPr>
          <a:lstStyle/>
          <a:p>
            <a:pPr algn="just">
              <a:lnSpc>
                <a:spcPts val="3360"/>
              </a:lnSpc>
            </a:pPr>
            <a:r>
              <a:rPr lang="en-US" b="true" sz="2800">
                <a:solidFill>
                  <a:srgbClr val="66121F"/>
                </a:solidFill>
                <a:latin typeface="Telegraf Bold"/>
                <a:ea typeface="Telegraf Bold"/>
                <a:cs typeface="Telegraf Bold"/>
                <a:sym typeface="Telegraf Bold"/>
              </a:rPr>
              <a:t>And lastly, of course I want to show the complessively results of the simulation, which consist in moving the manipulator from one configuration to another:</a:t>
            </a:r>
          </a:p>
        </p:txBody>
      </p:sp>
      <p:sp>
        <p:nvSpPr>
          <p:cNvPr name="TextBox 5" id="5"/>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timing>
    <p:tnLst>
      <p:par>
        <p:cTn dur="indefinite" restart="never" nodeType="tmRoot">
          <p:childTnLst>
            <p:video>
              <p:cMediaNode vol="100000">
                <p:cTn fill="hold" display="false">
                  <p:stCondLst>
                    <p:cond delay="indefinite"/>
                  </p:stCondLst>
                </p:cTn>
                <p:tgtEl>
                  <p:spTgt spid="3"/>
                </p:tgtEl>
              </p:cMediaNode>
            </p:video>
          </p:childTnLst>
        </p:cTn>
      </p:par>
    </p:tnLst>
  </p:timing>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028700" y="2204732"/>
            <a:ext cx="8229600" cy="0"/>
          </a:xfrm>
          <a:prstGeom prst="line">
            <a:avLst/>
          </a:prstGeom>
          <a:ln cap="flat" w="9525">
            <a:solidFill>
              <a:srgbClr val="1B1B19"/>
            </a:solidFill>
            <a:prstDash val="solid"/>
            <a:headEnd type="none" len="sm" w="sm"/>
            <a:tailEnd type="none" len="sm" w="sm"/>
          </a:ln>
        </p:spPr>
      </p:sp>
      <p:sp>
        <p:nvSpPr>
          <p:cNvPr name="TextBox 3" id="3"/>
          <p:cNvSpPr txBox="true"/>
          <p:nvPr/>
        </p:nvSpPr>
        <p:spPr>
          <a:xfrm rot="0">
            <a:off x="1028700" y="2483018"/>
            <a:ext cx="16230600" cy="6005512"/>
          </a:xfrm>
          <a:prstGeom prst="rect">
            <a:avLst/>
          </a:prstGeom>
        </p:spPr>
        <p:txBody>
          <a:bodyPr anchor="t" rtlCol="false" tIns="0" lIns="0" bIns="0" rIns="0">
            <a:spAutoFit/>
          </a:bodyPr>
          <a:lstStyle/>
          <a:p>
            <a:pPr algn="just">
              <a:lnSpc>
                <a:spcPts val="3360"/>
              </a:lnSpc>
            </a:pPr>
            <a:r>
              <a:rPr lang="en-US" sz="2800" b="true">
                <a:solidFill>
                  <a:srgbClr val="66121F"/>
                </a:solidFill>
                <a:latin typeface="Telegraf Bold"/>
                <a:ea typeface="Telegraf Bold"/>
                <a:cs typeface="Telegraf Bold"/>
                <a:sym typeface="Telegraf Bold"/>
              </a:rPr>
              <a:t>So this ends the presentation of this HM1, I’m happy to see the results and that everything’s working like it should, here I’ll also leave the commands to type in the docker to start the various simulations that I’ve implemented, thanks for the attention:</a:t>
            </a:r>
          </a:p>
          <a:p>
            <a:pPr algn="just" marL="604523" indent="-302261" lvl="1">
              <a:lnSpc>
                <a:spcPts val="3360"/>
              </a:lnSpc>
              <a:buFont typeface="Arial"/>
              <a:buChar char="•"/>
            </a:pPr>
            <a:r>
              <a:rPr lang="en-US" b="true" sz="2800">
                <a:solidFill>
                  <a:srgbClr val="66121F"/>
                </a:solidFill>
                <a:latin typeface="Telegraf Bold"/>
                <a:ea typeface="Telegraf Bold"/>
                <a:cs typeface="Telegraf Bold"/>
                <a:sym typeface="Telegraf Bold"/>
              </a:rPr>
              <a:t>To start the very first simulation in the Rviz2 environment, you must have the arm_description package and type ros2 launch arm_description display.launch.py;</a:t>
            </a:r>
          </a:p>
          <a:p>
            <a:pPr algn="just" marL="604523" indent="-302261" lvl="1">
              <a:lnSpc>
                <a:spcPts val="3360"/>
              </a:lnSpc>
              <a:buFont typeface="Arial"/>
              <a:buChar char="•"/>
            </a:pPr>
            <a:r>
              <a:rPr lang="en-US" b="true" sz="2800">
                <a:solidFill>
                  <a:srgbClr val="66121F"/>
                </a:solidFill>
                <a:latin typeface="Telegraf Bold"/>
                <a:ea typeface="Telegraf Bold"/>
                <a:cs typeface="Telegraf Bold"/>
                <a:sym typeface="Telegraf Bold"/>
              </a:rPr>
              <a:t>To start the macro simulation of the robot in Gazebo, also with the controllers and the camera ready, you must have the arm_description, arm_gazebo, and arm_control packages, and type ros2 launch arm_gazebo arm_world.launch.py;</a:t>
            </a:r>
          </a:p>
          <a:p>
            <a:pPr algn="just" marL="604523" indent="-302261" lvl="1">
              <a:lnSpc>
                <a:spcPts val="3360"/>
              </a:lnSpc>
              <a:buFont typeface="Arial"/>
              <a:buChar char="•"/>
            </a:pPr>
            <a:r>
              <a:rPr lang="en-US" b="true" sz="2800">
                <a:solidFill>
                  <a:srgbClr val="66121F"/>
                </a:solidFill>
                <a:latin typeface="Telegraf Bold"/>
                <a:ea typeface="Telegraf Bold"/>
                <a:cs typeface="Telegraf Bold"/>
                <a:sym typeface="Telegraf Bold"/>
              </a:rPr>
              <a:t>To start the node which is used to retrieve data from the sensors and to send the desired position commands, you must have all the packages specified in the previoous point, and write in the shell ros2 run arm_control control_node, also, to modify the position commands, you need to follow this path arm_control/src/arm_controller_node.cpp, you’ll find the part of code which is used to change the desider configuration.</a:t>
            </a:r>
          </a:p>
        </p:txBody>
      </p:sp>
      <p:sp>
        <p:nvSpPr>
          <p:cNvPr name="TextBox 4" id="4"/>
          <p:cNvSpPr txBox="true"/>
          <p:nvPr/>
        </p:nvSpPr>
        <p:spPr>
          <a:xfrm rot="0">
            <a:off x="1028700" y="1123645"/>
            <a:ext cx="9824311" cy="1076325"/>
          </a:xfrm>
          <a:prstGeom prst="rect">
            <a:avLst/>
          </a:prstGeom>
        </p:spPr>
        <p:txBody>
          <a:bodyPr anchor="t" rtlCol="false" tIns="0" lIns="0" bIns="0" rIns="0">
            <a:spAutoFit/>
          </a:bodyPr>
          <a:lstStyle/>
          <a:p>
            <a:pPr algn="l">
              <a:lnSpc>
                <a:spcPts val="7500"/>
              </a:lnSpc>
            </a:pPr>
            <a:r>
              <a:rPr lang="en-US" sz="7500">
                <a:solidFill>
                  <a:srgbClr val="66121F"/>
                </a:solidFill>
                <a:latin typeface="Telegraf"/>
                <a:ea typeface="Telegraf"/>
                <a:cs typeface="Telegraf"/>
                <a:sym typeface="Telegraf"/>
              </a:rPr>
              <a:t>Homework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DAGdsNvesFQ</dc:identifier>
  <dcterms:modified xsi:type="dcterms:W3CDTF">2011-08-01T06:04:30Z</dcterms:modified>
  <cp:revision>1</cp:revision>
  <dc:title>HW RoboticsLab</dc:title>
</cp:coreProperties>
</file>